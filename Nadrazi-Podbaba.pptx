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Dobrý den, dnes vám představím železniční stanici Nádraží Podbaba, celým názvem Praha-Podbaba. Je to sice menší zastávka, ale dnes uvidíme, že má pro dopravu v Praze docela velký význam. Leží na severozápadě města a je hezkým příkladem toho, jak moderní železnice spolupracuje s tramvajemi a autobusy. V následujících minutách si projdeme základní informace, historii i to, jak se odsud dá rychle dostat do centra Prahy.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Tady vidíme základní informace o stanici. Praha-Podbaba se nachází v Praze 6, v katastru Bubenče, nedaleko řeky Vltavy. Otevřena byla 29. srpna 2014 a nahradila starší stanici Praha-Bubeneč, která už cestujícím dobře nesloužila. Stanice je součástí pražské příměstské železnice, takzvaného systému Esko, který je zapojený do integrované dopravy PID. Díky tomu na jeden jízdní doklad přestoupíte mezi vlakem, tramvají i autobusem.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Proč je vlastně Podbaba důležitá? Hlavní výhodou je, že na jednom místě potkáte tři druhy dopravy – vlak, tramvaj i autobus. Pro obyvatele Prahy 6 je to praktická brána do města i ven z něj. Místo aby lidé jezdili autem, mohou rychle přestoupit z tramvaje na vlak a během pár minut být blíž centru. Právě tahle provázanost dělá z malé zastávky důležitý dopravní bod.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Možná vás překvapí, že železnice tudy vede už velmi dlouho. První zastávka v okolí Podbaby fungovala už od roku 1867, tedy v 19. století. V roce 2011 sem byla prodloužena tramvajová trať a vznikla nová smyčka. A v srpnu 2014 se to celé propojilo – 28. srpna projel poslední vlak stanicí Praha-Bubeneč a hned další den, 29. srpna, byla otevřena moderní stanice Podbaba. Byla postavená záměrně u tramvají, jako přestupní terminál.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Tady se můžeme podívat, jak stanice a její okolí vlastně vypadají. Vidíme nástupiště, podchod, tramvajovou smyčku i autobusovou zastávku. Architektura je jednoduchá a účelná – prosklené přístřešky, bezbariérový přístup a podchod, který spojuje nástupiště s ulicí. Všimněte si, že všechno je blízko u sebe, takže přestup z vlaku na tramvaj zabere jen pár desítek metrů a chvilku času.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Teď k samotným spojením. Na nádraží Podbaba zastavují vlaky linek S4 a S41 na trati číslo 091 z Prahy do Děčína – jezdí směrem na Masarykovo nádraží i opačně na Roztoky a Kralupy nad Vltavou. Hned vedle končí tramvajové linky 8 a 18, které míří na Dejvickou a do centra. A doplňují je autobusy, například linky 116, 160 a 355, v noci pak linky 902, 909 a 954. Všechno na jednom místě.</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Jednou z největších výhod Podbaby je rychlost spojení s centrem. Vlakem se z Podbaby dostanete na Masarykovo nádraží přibližně za dvanáct minut – bez popojíždění v koloně a bez čekání na semaforech. Druhá možnost je tramvají číslo 8 nebo 18 na Dejvickou, odkud pokračuje metro linky A přímo do centra. Cestující si tak mohou vybrat, co se jim zrovna hodí. Právě proto je Podbaba oblíbená u lidí dojíždějících do práce a do školy.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 závěr to shrňme. Praha-Podbaba je moderní železniční stanice otevřená v roce 2014, která se stala důležitým přestupním uzlem mezi vlakem, tramvají a autobusem. Nabízí rychlé a pohodlné spojení s centrem Prahy a je hezkým příkladem toho, jak má vypadat moderní městská železnice. Děkuji za pozornost a rád zodpovím vaše dotazy.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 Id="rId4" Type="http://schemas.openxmlformats.org/officeDocument/2006/relationships/image" Target="../media/image3.jpg"/><Relationship Id="rId5" Type="http://schemas.openxmlformats.org/officeDocument/2006/relationships/image" Target="../media/image9.jpg"/><Relationship Id="rId6" Type="http://schemas.openxmlformats.org/officeDocument/2006/relationships/image" Target="../media/image10.jpg"/><Relationship Id="rId7" Type="http://schemas.openxmlformats.org/officeDocument/2006/relationships/image" Target="../media/image11.jpg"/><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itle_hero.jpg"/>
          <p:cNvPicPr>
            <a:picLocks noChangeAspect="1"/>
          </p:cNvPicPr>
          <p:nvPr/>
        </p:nvPicPr>
        <p:blipFill>
          <a:blip r:embed="rId2"/>
          <a:srcRect t="7877" b="7877"/>
          <a:stretch>
            <a:fillRect/>
          </a:stretch>
        </p:blipFill>
        <p:spPr>
          <a:xfrm>
            <a:off x="0" y="0"/>
            <a:ext cx="12191695" cy="6858000"/>
          </a:xfrm>
          <a:prstGeom prst="rect">
            <a:avLst/>
          </a:prstGeom>
        </p:spPr>
      </p:pic>
      <p:sp>
        <p:nvSpPr>
          <p:cNvPr id="3" name="Rectangle 2"/>
          <p:cNvSpPr/>
          <p:nvPr/>
        </p:nvSpPr>
        <p:spPr>
          <a:xfrm>
            <a:off x="0" y="2926080"/>
            <a:ext cx="12191695" cy="3931920"/>
          </a:xfrm>
          <a:prstGeom prst="rect">
            <a:avLst/>
          </a:prstGeom>
          <a:gradFill>
            <a:gsLst>
              <a:gs pos="0">
                <a:srgbClr val="000000">
                  <a:alpha val="0"/>
                </a:srgbClr>
              </a:gs>
              <a:gs pos="100000">
                <a:srgbClr val="000000">
                  <a:alpha val="82000"/>
                </a:srgb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60520"/>
            <a:ext cx="10058400" cy="457200"/>
          </a:xfrm>
          <a:prstGeom prst="rect">
            <a:avLst/>
          </a:prstGeom>
          <a:noFill/>
        </p:spPr>
        <p:txBody>
          <a:bodyPr wrap="square" anchor="t" lIns="0" rIns="0" tIns="0" bIns="0">
            <a:spAutoFit/>
          </a:bodyPr>
          <a:lstStyle/>
          <a:p>
            <a:pPr algn="l">
              <a:spcBef>
                <a:spcPts val="0"/>
              </a:spcBef>
            </a:pPr>
            <a:r>
              <a:rPr sz="1400" b="1" spc="300">
                <a:solidFill>
                  <a:srgbClr val="E7E7EC"/>
                </a:solidFill>
                <a:latin typeface="Helvetica Neue"/>
              </a:rPr>
              <a:t>PRAHA-PODBABA</a:t>
            </a:r>
          </a:p>
        </p:txBody>
      </p:sp>
      <p:sp>
        <p:nvSpPr>
          <p:cNvPr id="5" name="TextBox 4"/>
          <p:cNvSpPr txBox="1"/>
          <p:nvPr/>
        </p:nvSpPr>
        <p:spPr>
          <a:xfrm>
            <a:off x="731520" y="4526280"/>
            <a:ext cx="10698480" cy="1463040"/>
          </a:xfrm>
          <a:prstGeom prst="rect">
            <a:avLst/>
          </a:prstGeom>
          <a:noFill/>
        </p:spPr>
        <p:txBody>
          <a:bodyPr wrap="square" anchor="t" lIns="0" rIns="0" tIns="0" bIns="0">
            <a:spAutoFit/>
          </a:bodyPr>
          <a:lstStyle/>
          <a:p>
            <a:pPr algn="l">
              <a:spcBef>
                <a:spcPts val="0"/>
              </a:spcBef>
            </a:pPr>
            <a:r>
              <a:rPr sz="6000" b="0">
                <a:solidFill>
                  <a:srgbClr val="FFFFFF"/>
                </a:solidFill>
                <a:latin typeface="Helvetica Neue"/>
              </a:rPr>
              <a:t>Nádraží Podbaba</a:t>
            </a:r>
          </a:p>
        </p:txBody>
      </p:sp>
      <p:sp>
        <p:nvSpPr>
          <p:cNvPr id="6" name="TextBox 5"/>
          <p:cNvSpPr txBox="1"/>
          <p:nvPr/>
        </p:nvSpPr>
        <p:spPr>
          <a:xfrm>
            <a:off x="777240" y="5623560"/>
            <a:ext cx="10058400" cy="640080"/>
          </a:xfrm>
          <a:prstGeom prst="rect">
            <a:avLst/>
          </a:prstGeom>
          <a:noFill/>
        </p:spPr>
        <p:txBody>
          <a:bodyPr wrap="square" anchor="t" lIns="0" rIns="0" tIns="0" bIns="0">
            <a:spAutoFit/>
          </a:bodyPr>
          <a:lstStyle/>
          <a:p>
            <a:pPr algn="l">
              <a:spcBef>
                <a:spcPts val="0"/>
              </a:spcBef>
            </a:pPr>
            <a:r>
              <a:rPr sz="2200" b="0">
                <a:solidFill>
                  <a:srgbClr val="E7E7EC"/>
                </a:solidFill>
                <a:latin typeface="Helvetica Neue"/>
              </a:rPr>
              <a:t>Zajímavosti a dopravní význam stanice</a:t>
            </a:r>
          </a:p>
        </p:txBody>
      </p:sp>
      <p:sp>
        <p:nvSpPr>
          <p:cNvPr id="7" name="TextBox 6"/>
          <p:cNvSpPr txBox="1"/>
          <p:nvPr/>
        </p:nvSpPr>
        <p:spPr>
          <a:xfrm>
            <a:off x="0" y="6547104"/>
            <a:ext cx="11963095" cy="274320"/>
          </a:xfrm>
          <a:prstGeom prst="rect">
            <a:avLst/>
          </a:prstGeom>
          <a:noFill/>
        </p:spPr>
        <p:txBody>
          <a:bodyPr wrap="square" anchor="t" lIns="0" rIns="0" tIns="0" bIns="0">
            <a:spAutoFit/>
          </a:bodyPr>
          <a:lstStyle/>
          <a:p>
            <a:pPr algn="r">
              <a:spcBef>
                <a:spcPts val="0"/>
              </a:spcBef>
            </a:pPr>
            <a:r>
              <a:rPr sz="700" b="0">
                <a:solidFill>
                  <a:srgbClr val="C9C9CE"/>
                </a:solidFill>
                <a:latin typeface="Helvetica Neue"/>
              </a:rPr>
              <a:t>Foto: Jirka Dl · CC BY-SA 4.0 · Wikimedia Commons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tation_view.jpg"/>
          <p:cNvPicPr>
            <a:picLocks noChangeAspect="1"/>
          </p:cNvPicPr>
          <p:nvPr/>
        </p:nvPicPr>
        <p:blipFill>
          <a:blip r:embed="rId2"/>
          <a:srcRect l="15436" r="15436"/>
          <a:stretch>
            <a:fillRect/>
          </a:stretch>
        </p:blipFill>
        <p:spPr>
          <a:xfrm>
            <a:off x="5074920" y="0"/>
            <a:ext cx="7116775" cy="6858000"/>
          </a:xfrm>
          <a:prstGeom prst="rect">
            <a:avLst/>
          </a:prstGeom>
        </p:spPr>
      </p:pic>
      <p:sp>
        <p:nvSpPr>
          <p:cNvPr id="3" name="TextBox 2"/>
          <p:cNvSpPr txBox="1"/>
          <p:nvPr/>
        </p:nvSpPr>
        <p:spPr>
          <a:xfrm>
            <a:off x="777240" y="777240"/>
            <a:ext cx="7315200" cy="365760"/>
          </a:xfrm>
          <a:prstGeom prst="rect">
            <a:avLst/>
          </a:prstGeom>
          <a:noFill/>
        </p:spPr>
        <p:txBody>
          <a:bodyPr wrap="square" anchor="t" lIns="0" rIns="0" tIns="0" bIns="0">
            <a:spAutoFit/>
          </a:bodyPr>
          <a:lstStyle/>
          <a:p>
            <a:pPr algn="l">
              <a:spcBef>
                <a:spcPts val="0"/>
              </a:spcBef>
            </a:pPr>
            <a:r>
              <a:rPr sz="1250" b="1" spc="220">
                <a:solidFill>
                  <a:srgbClr val="0071E3"/>
                </a:solidFill>
                <a:latin typeface="Helvetica Neue"/>
              </a:rPr>
              <a:t>ZÁKLADNÍ INFORMACE</a:t>
            </a:r>
          </a:p>
        </p:txBody>
      </p:sp>
      <p:sp>
        <p:nvSpPr>
          <p:cNvPr id="4" name="TextBox 3"/>
          <p:cNvSpPr txBox="1"/>
          <p:nvPr/>
        </p:nvSpPr>
        <p:spPr>
          <a:xfrm>
            <a:off x="758952" y="1143000"/>
            <a:ext cx="4023360" cy="914400"/>
          </a:xfrm>
          <a:prstGeom prst="rect">
            <a:avLst/>
          </a:prstGeom>
          <a:noFill/>
        </p:spPr>
        <p:txBody>
          <a:bodyPr wrap="square" anchor="t" lIns="0" rIns="0" tIns="0" bIns="0">
            <a:spAutoFit/>
          </a:bodyPr>
          <a:lstStyle/>
          <a:p>
            <a:pPr algn="l">
              <a:spcBef>
                <a:spcPts val="0"/>
              </a:spcBef>
            </a:pPr>
            <a:r>
              <a:rPr sz="3800" b="0">
                <a:solidFill>
                  <a:srgbClr val="1D1D1F"/>
                </a:solidFill>
                <a:latin typeface="Helvetica Neue"/>
              </a:rPr>
              <a:t>O stanici</a:t>
            </a:r>
          </a:p>
        </p:txBody>
      </p:sp>
      <p:sp>
        <p:nvSpPr>
          <p:cNvPr id="5" name="Rectangle 4"/>
          <p:cNvSpPr/>
          <p:nvPr/>
        </p:nvSpPr>
        <p:spPr>
          <a:xfrm>
            <a:off x="777240" y="2340864"/>
            <a:ext cx="82296" cy="56692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286000"/>
            <a:ext cx="3840480" cy="731520"/>
          </a:xfrm>
          <a:prstGeom prst="rect">
            <a:avLst/>
          </a:prstGeom>
          <a:noFill/>
        </p:spPr>
        <p:txBody>
          <a:bodyPr wrap="square" anchor="t" lIns="0" rIns="0" tIns="0" bIns="0">
            <a:spAutoFit/>
          </a:bodyPr>
          <a:lstStyle/>
          <a:p>
            <a:pPr algn="l">
              <a:lnSpc>
                <a:spcPct val="100000"/>
              </a:lnSpc>
              <a:spcBef>
                <a:spcPts val="0"/>
              </a:spcBef>
              <a:spcAft>
                <a:spcPts val="200"/>
              </a:spcAft>
            </a:pPr>
            <a:r>
              <a:rPr sz="1700" b="1">
                <a:solidFill>
                  <a:srgbClr val="1D1D1F"/>
                </a:solidFill>
                <a:latin typeface="Helvetica Neue"/>
              </a:rPr>
              <a:t>Praha 6 – Bubeneč</a:t>
            </a:r>
          </a:p>
          <a:p>
            <a:pPr algn="l">
              <a:lnSpc>
                <a:spcPct val="100000"/>
              </a:lnSpc>
              <a:spcBef>
                <a:spcPts val="0"/>
              </a:spcBef>
              <a:spcAft>
                <a:spcPts val="200"/>
              </a:spcAft>
            </a:pPr>
            <a:r>
              <a:rPr sz="1250" b="0">
                <a:solidFill>
                  <a:srgbClr val="6E6E73"/>
                </a:solidFill>
                <a:latin typeface="Helvetica Neue"/>
              </a:rPr>
              <a:t>poloha v severozápadní části Prahy</a:t>
            </a:r>
          </a:p>
        </p:txBody>
      </p:sp>
      <p:sp>
        <p:nvSpPr>
          <p:cNvPr id="7" name="Rectangle 6"/>
          <p:cNvSpPr/>
          <p:nvPr/>
        </p:nvSpPr>
        <p:spPr>
          <a:xfrm>
            <a:off x="777240" y="3182112"/>
            <a:ext cx="82296" cy="56692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3127248"/>
            <a:ext cx="3840480" cy="731520"/>
          </a:xfrm>
          <a:prstGeom prst="rect">
            <a:avLst/>
          </a:prstGeom>
          <a:noFill/>
        </p:spPr>
        <p:txBody>
          <a:bodyPr wrap="square" anchor="t" lIns="0" rIns="0" tIns="0" bIns="0">
            <a:spAutoFit/>
          </a:bodyPr>
          <a:lstStyle/>
          <a:p>
            <a:pPr algn="l">
              <a:lnSpc>
                <a:spcPct val="100000"/>
              </a:lnSpc>
              <a:spcBef>
                <a:spcPts val="0"/>
              </a:spcBef>
              <a:spcAft>
                <a:spcPts val="200"/>
              </a:spcAft>
            </a:pPr>
            <a:r>
              <a:rPr sz="1700" b="1">
                <a:solidFill>
                  <a:srgbClr val="1D1D1F"/>
                </a:solidFill>
                <a:latin typeface="Helvetica Neue"/>
              </a:rPr>
              <a:t>Otevřena v roce 2014</a:t>
            </a:r>
          </a:p>
          <a:p>
            <a:pPr algn="l">
              <a:lnSpc>
                <a:spcPct val="100000"/>
              </a:lnSpc>
              <a:spcBef>
                <a:spcPts val="0"/>
              </a:spcBef>
              <a:spcAft>
                <a:spcPts val="200"/>
              </a:spcAft>
            </a:pPr>
            <a:r>
              <a:rPr sz="1250" b="0">
                <a:solidFill>
                  <a:srgbClr val="6E6E73"/>
                </a:solidFill>
                <a:latin typeface="Helvetica Neue"/>
              </a:rPr>
              <a:t>29. srpna 2014</a:t>
            </a:r>
          </a:p>
        </p:txBody>
      </p:sp>
      <p:sp>
        <p:nvSpPr>
          <p:cNvPr id="9" name="Rectangle 8"/>
          <p:cNvSpPr/>
          <p:nvPr/>
        </p:nvSpPr>
        <p:spPr>
          <a:xfrm>
            <a:off x="777240" y="4023360"/>
            <a:ext cx="82296" cy="56692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3968496"/>
            <a:ext cx="3840480" cy="731520"/>
          </a:xfrm>
          <a:prstGeom prst="rect">
            <a:avLst/>
          </a:prstGeom>
          <a:noFill/>
        </p:spPr>
        <p:txBody>
          <a:bodyPr wrap="square" anchor="t" lIns="0" rIns="0" tIns="0" bIns="0">
            <a:spAutoFit/>
          </a:bodyPr>
          <a:lstStyle/>
          <a:p>
            <a:pPr algn="l">
              <a:lnSpc>
                <a:spcPct val="100000"/>
              </a:lnSpc>
              <a:spcBef>
                <a:spcPts val="0"/>
              </a:spcBef>
              <a:spcAft>
                <a:spcPts val="200"/>
              </a:spcAft>
            </a:pPr>
            <a:r>
              <a:rPr sz="1700" b="1">
                <a:solidFill>
                  <a:srgbClr val="1D1D1F"/>
                </a:solidFill>
                <a:latin typeface="Helvetica Neue"/>
              </a:rPr>
              <a:t>Náhrada za Prahu-Bubeneč</a:t>
            </a:r>
          </a:p>
          <a:p>
            <a:pPr algn="l">
              <a:lnSpc>
                <a:spcPct val="100000"/>
              </a:lnSpc>
              <a:spcBef>
                <a:spcPts val="0"/>
              </a:spcBef>
              <a:spcAft>
                <a:spcPts val="200"/>
              </a:spcAft>
            </a:pPr>
            <a:r>
              <a:rPr sz="1250" b="0">
                <a:solidFill>
                  <a:srgbClr val="6E6E73"/>
                </a:solidFill>
                <a:latin typeface="Helvetica Neue"/>
              </a:rPr>
              <a:t>nahradila starší stanici poblíž</a:t>
            </a:r>
          </a:p>
        </p:txBody>
      </p:sp>
      <p:sp>
        <p:nvSpPr>
          <p:cNvPr id="11" name="Rectangle 10"/>
          <p:cNvSpPr/>
          <p:nvPr/>
        </p:nvSpPr>
        <p:spPr>
          <a:xfrm>
            <a:off x="777240" y="4864608"/>
            <a:ext cx="82296" cy="56692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09744"/>
            <a:ext cx="3840480" cy="731520"/>
          </a:xfrm>
          <a:prstGeom prst="rect">
            <a:avLst/>
          </a:prstGeom>
          <a:noFill/>
        </p:spPr>
        <p:txBody>
          <a:bodyPr wrap="square" anchor="t" lIns="0" rIns="0" tIns="0" bIns="0">
            <a:spAutoFit/>
          </a:bodyPr>
          <a:lstStyle/>
          <a:p>
            <a:pPr algn="l">
              <a:lnSpc>
                <a:spcPct val="100000"/>
              </a:lnSpc>
              <a:spcBef>
                <a:spcPts val="0"/>
              </a:spcBef>
              <a:spcAft>
                <a:spcPts val="200"/>
              </a:spcAft>
            </a:pPr>
            <a:r>
              <a:rPr sz="1700" b="1">
                <a:solidFill>
                  <a:srgbClr val="1D1D1F"/>
                </a:solidFill>
                <a:latin typeface="Helvetica Neue"/>
              </a:rPr>
              <a:t>Síť Esko / PID</a:t>
            </a:r>
          </a:p>
          <a:p>
            <a:pPr algn="l">
              <a:lnSpc>
                <a:spcPct val="100000"/>
              </a:lnSpc>
              <a:spcBef>
                <a:spcPts val="0"/>
              </a:spcBef>
              <a:spcAft>
                <a:spcPts val="200"/>
              </a:spcAft>
            </a:pPr>
            <a:r>
              <a:rPr sz="1250" b="0">
                <a:solidFill>
                  <a:srgbClr val="6E6E73"/>
                </a:solidFill>
                <a:latin typeface="Helvetica Neue"/>
              </a:rPr>
              <a:t>součást příměstské železnice</a:t>
            </a:r>
          </a:p>
        </p:txBody>
      </p:sp>
      <p:sp>
        <p:nvSpPr>
          <p:cNvPr id="13" name="Rounded Rectangle 12"/>
          <p:cNvSpPr/>
          <p:nvPr/>
        </p:nvSpPr>
        <p:spPr>
          <a:xfrm>
            <a:off x="777240" y="5715000"/>
            <a:ext cx="3931920" cy="777240"/>
          </a:xfrm>
          <a:prstGeom prst="round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flipV="1">
            <a:off x="960120" y="5852160"/>
            <a:ext cx="1645920" cy="429768"/>
          </a:xfrm>
          <a:prstGeom prst="bentConnector3">
            <a:avLst/>
          </a:prstGeom>
          <a:ln w="63500">
            <a:solidFill>
              <a:srgbClr val="9FC5E8"/>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14400" y="5779008"/>
            <a:ext cx="1828800" cy="274320"/>
          </a:xfrm>
          <a:prstGeom prst="rect">
            <a:avLst/>
          </a:prstGeom>
          <a:noFill/>
        </p:spPr>
        <p:txBody>
          <a:bodyPr wrap="square" anchor="t" lIns="0" rIns="0" tIns="0" bIns="0">
            <a:spAutoFit/>
          </a:bodyPr>
          <a:lstStyle/>
          <a:p>
            <a:pPr algn="l">
              <a:spcBef>
                <a:spcPts val="0"/>
              </a:spcBef>
            </a:pPr>
            <a:r>
              <a:rPr sz="800" b="0">
                <a:solidFill>
                  <a:srgbClr val="6E6E73"/>
                </a:solidFill>
                <a:latin typeface="Helvetica Neue"/>
              </a:rPr>
              <a:t>Vltava</a:t>
            </a:r>
          </a:p>
        </p:txBody>
      </p:sp>
      <p:sp>
        <p:nvSpPr>
          <p:cNvPr id="16" name="Oval 15"/>
          <p:cNvSpPr/>
          <p:nvPr/>
        </p:nvSpPr>
        <p:spPr>
          <a:xfrm>
            <a:off x="2194560" y="5971032"/>
            <a:ext cx="274320" cy="274320"/>
          </a:xfrm>
          <a:prstGeom prst="ellipse">
            <a:avLst/>
          </a:prstGeom>
          <a:solidFill>
            <a:srgbClr val="E033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Helvetica Neue"/>
              </a:rPr>
              <a:t/>
            </a:r>
          </a:p>
        </p:txBody>
      </p:sp>
      <p:sp>
        <p:nvSpPr>
          <p:cNvPr id="17" name="TextBox 16"/>
          <p:cNvSpPr txBox="1"/>
          <p:nvPr/>
        </p:nvSpPr>
        <p:spPr>
          <a:xfrm>
            <a:off x="2560320" y="5961888"/>
            <a:ext cx="2103120" cy="365760"/>
          </a:xfrm>
          <a:prstGeom prst="rect">
            <a:avLst/>
          </a:prstGeom>
          <a:noFill/>
        </p:spPr>
        <p:txBody>
          <a:bodyPr wrap="square" anchor="t" lIns="0" rIns="0" tIns="0" bIns="0">
            <a:spAutoFit/>
          </a:bodyPr>
          <a:lstStyle/>
          <a:p>
            <a:pPr algn="l">
              <a:lnSpc>
                <a:spcPct val="95000"/>
              </a:lnSpc>
              <a:spcBef>
                <a:spcPts val="0"/>
              </a:spcBef>
              <a:spcAft>
                <a:spcPts val="0"/>
              </a:spcAft>
            </a:pPr>
            <a:r>
              <a:rPr sz="1100" b="1">
                <a:solidFill>
                  <a:srgbClr val="1D1D1F"/>
                </a:solidFill>
                <a:latin typeface="Helvetica Neue"/>
              </a:rPr>
              <a:t>Praha-Podbaba</a:t>
            </a:r>
          </a:p>
          <a:p>
            <a:pPr algn="l">
              <a:lnSpc>
                <a:spcPct val="95000"/>
              </a:lnSpc>
              <a:spcBef>
                <a:spcPts val="0"/>
              </a:spcBef>
              <a:spcAft>
                <a:spcPts val="0"/>
              </a:spcAft>
            </a:pPr>
            <a:r>
              <a:rPr sz="850" b="0">
                <a:solidFill>
                  <a:srgbClr val="6E6E73"/>
                </a:solidFill>
                <a:latin typeface="Helvetica Neue"/>
              </a:rPr>
              <a:t>Praha 6</a:t>
            </a:r>
          </a:p>
        </p:txBody>
      </p:sp>
      <p:sp>
        <p:nvSpPr>
          <p:cNvPr id="18" name="TextBox 17"/>
          <p:cNvSpPr txBox="1"/>
          <p:nvPr/>
        </p:nvSpPr>
        <p:spPr>
          <a:xfrm>
            <a:off x="0" y="6547104"/>
            <a:ext cx="11963095" cy="274320"/>
          </a:xfrm>
          <a:prstGeom prst="rect">
            <a:avLst/>
          </a:prstGeom>
          <a:noFill/>
        </p:spPr>
        <p:txBody>
          <a:bodyPr wrap="square" anchor="t" lIns="0" rIns="0" tIns="0" bIns="0">
            <a:spAutoFit/>
          </a:bodyPr>
          <a:lstStyle/>
          <a:p>
            <a:pPr algn="r">
              <a:spcBef>
                <a:spcPts val="0"/>
              </a:spcBef>
            </a:pPr>
            <a:r>
              <a:rPr sz="700" b="0">
                <a:solidFill>
                  <a:srgbClr val="C9C9CE"/>
                </a:solidFill>
                <a:latin typeface="Helvetica Neue"/>
              </a:rPr>
              <a:t>Foto: I would appreciate being notified if you use my work outside Wikimedia.
More of my work can be found in my personal gallery. · CC BY 3.0 · Wikimedia Commons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640080"/>
            <a:ext cx="7315200" cy="365760"/>
          </a:xfrm>
          <a:prstGeom prst="rect">
            <a:avLst/>
          </a:prstGeom>
          <a:noFill/>
        </p:spPr>
        <p:txBody>
          <a:bodyPr wrap="square" anchor="t" lIns="0" rIns="0" tIns="0" bIns="0">
            <a:spAutoFit/>
          </a:bodyPr>
          <a:lstStyle/>
          <a:p>
            <a:pPr algn="l">
              <a:spcBef>
                <a:spcPts val="0"/>
              </a:spcBef>
            </a:pPr>
            <a:r>
              <a:rPr sz="1250" b="1" spc="220">
                <a:solidFill>
                  <a:srgbClr val="0071E3"/>
                </a:solidFill>
                <a:latin typeface="Helvetica Neue"/>
              </a:rPr>
              <a:t>DOPRAVNÍ VÝZNAM</a:t>
            </a:r>
          </a:p>
        </p:txBody>
      </p:sp>
      <p:sp>
        <p:nvSpPr>
          <p:cNvPr id="3" name="TextBox 2"/>
          <p:cNvSpPr txBox="1"/>
          <p:nvPr/>
        </p:nvSpPr>
        <p:spPr>
          <a:xfrm>
            <a:off x="758952" y="1005840"/>
            <a:ext cx="10515600" cy="914400"/>
          </a:xfrm>
          <a:prstGeom prst="rect">
            <a:avLst/>
          </a:prstGeom>
          <a:noFill/>
        </p:spPr>
        <p:txBody>
          <a:bodyPr wrap="square" anchor="t" lIns="0" rIns="0" tIns="0" bIns="0">
            <a:spAutoFit/>
          </a:bodyPr>
          <a:lstStyle/>
          <a:p>
            <a:pPr algn="l">
              <a:spcBef>
                <a:spcPts val="0"/>
              </a:spcBef>
            </a:pPr>
            <a:r>
              <a:rPr sz="3800" b="0">
                <a:solidFill>
                  <a:srgbClr val="1D1D1F"/>
                </a:solidFill>
                <a:latin typeface="Helvetica Neue"/>
              </a:rPr>
              <a:t>Proč je Podbaba důležitá?</a:t>
            </a:r>
          </a:p>
        </p:txBody>
      </p:sp>
      <p:pic>
        <p:nvPicPr>
          <p:cNvPr id="4" name="Picture 3" descr="train_to_prague.jpg"/>
          <p:cNvPicPr>
            <a:picLocks noChangeAspect="1"/>
          </p:cNvPicPr>
          <p:nvPr/>
        </p:nvPicPr>
        <p:blipFill>
          <a:blip r:embed="rId2"/>
          <a:srcRect l="4052" r="4052"/>
          <a:stretch>
            <a:fillRect/>
          </a:stretch>
        </p:blipFill>
        <p:spPr>
          <a:xfrm>
            <a:off x="777240" y="2103120"/>
            <a:ext cx="3429000" cy="2697480"/>
          </a:xfrm>
          <a:prstGeom prst="rect">
            <a:avLst/>
          </a:prstGeom>
        </p:spPr>
      </p:pic>
      <p:sp>
        <p:nvSpPr>
          <p:cNvPr id="5" name="Rectangle 4"/>
          <p:cNvSpPr/>
          <p:nvPr/>
        </p:nvSpPr>
        <p:spPr>
          <a:xfrm>
            <a:off x="777240" y="4800600"/>
            <a:ext cx="457200" cy="82296"/>
          </a:xfrm>
          <a:prstGeom prst="rect">
            <a:avLst/>
          </a:prstGeom>
          <a:solidFill>
            <a:srgbClr val="585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001768"/>
            <a:ext cx="3429000" cy="1188720"/>
          </a:xfrm>
          <a:prstGeom prst="rect">
            <a:avLst/>
          </a:prstGeom>
          <a:noFill/>
        </p:spPr>
        <p:txBody>
          <a:bodyPr wrap="square" anchor="t" lIns="0" rIns="0" tIns="0" bIns="0">
            <a:spAutoFit/>
          </a:bodyPr>
          <a:lstStyle/>
          <a:p>
            <a:pPr algn="l">
              <a:lnSpc>
                <a:spcPct val="105000"/>
              </a:lnSpc>
              <a:spcBef>
                <a:spcPts val="0"/>
              </a:spcBef>
              <a:spcAft>
                <a:spcPts val="400"/>
              </a:spcAft>
            </a:pPr>
            <a:r>
              <a:rPr sz="2000" b="1">
                <a:solidFill>
                  <a:srgbClr val="1D1D1F"/>
                </a:solidFill>
                <a:latin typeface="Helvetica Neue"/>
              </a:rPr>
              <a:t>Přestupní uzel</a:t>
            </a:r>
          </a:p>
          <a:p>
            <a:pPr algn="l">
              <a:lnSpc>
                <a:spcPct val="105000"/>
              </a:lnSpc>
              <a:spcBef>
                <a:spcPts val="0"/>
              </a:spcBef>
              <a:spcAft>
                <a:spcPts val="400"/>
              </a:spcAft>
            </a:pPr>
            <a:r>
              <a:rPr sz="1300" b="0">
                <a:solidFill>
                  <a:srgbClr val="6E6E73"/>
                </a:solidFill>
                <a:latin typeface="Helvetica Neue"/>
              </a:rPr>
              <a:t>Vlak, tramvaj a autobus na jednom místě</a:t>
            </a:r>
          </a:p>
        </p:txBody>
      </p:sp>
      <p:pic>
        <p:nvPicPr>
          <p:cNvPr id="7" name="Picture 6" descr="tram.jpg"/>
          <p:cNvPicPr>
            <a:picLocks noChangeAspect="1"/>
          </p:cNvPicPr>
          <p:nvPr/>
        </p:nvPicPr>
        <p:blipFill>
          <a:blip r:embed="rId3"/>
          <a:srcRect l="2331" r="2331"/>
          <a:stretch>
            <a:fillRect/>
          </a:stretch>
        </p:blipFill>
        <p:spPr>
          <a:xfrm>
            <a:off x="4517136" y="2103120"/>
            <a:ext cx="3429000" cy="2697480"/>
          </a:xfrm>
          <a:prstGeom prst="rect">
            <a:avLst/>
          </a:prstGeom>
        </p:spPr>
      </p:pic>
      <p:sp>
        <p:nvSpPr>
          <p:cNvPr id="8" name="Rectangle 7"/>
          <p:cNvSpPr/>
          <p:nvPr/>
        </p:nvSpPr>
        <p:spPr>
          <a:xfrm>
            <a:off x="4517136" y="4800600"/>
            <a:ext cx="457200" cy="82296"/>
          </a:xfrm>
          <a:prstGeom prst="rect">
            <a:avLst/>
          </a:prstGeom>
          <a:solidFill>
            <a:srgbClr val="E03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17136" y="5001768"/>
            <a:ext cx="3429000" cy="1188720"/>
          </a:xfrm>
          <a:prstGeom prst="rect">
            <a:avLst/>
          </a:prstGeom>
          <a:noFill/>
        </p:spPr>
        <p:txBody>
          <a:bodyPr wrap="square" anchor="t" lIns="0" rIns="0" tIns="0" bIns="0">
            <a:spAutoFit/>
          </a:bodyPr>
          <a:lstStyle/>
          <a:p>
            <a:pPr algn="l">
              <a:lnSpc>
                <a:spcPct val="105000"/>
              </a:lnSpc>
              <a:spcBef>
                <a:spcPts val="0"/>
              </a:spcBef>
              <a:spcAft>
                <a:spcPts val="400"/>
              </a:spcAft>
            </a:pPr>
            <a:r>
              <a:rPr sz="2000" b="1">
                <a:solidFill>
                  <a:srgbClr val="1D1D1F"/>
                </a:solidFill>
                <a:latin typeface="Helvetica Neue"/>
              </a:rPr>
              <a:t>Brána Prahy 6</a:t>
            </a:r>
          </a:p>
          <a:p>
            <a:pPr algn="l">
              <a:lnSpc>
                <a:spcPct val="105000"/>
              </a:lnSpc>
              <a:spcBef>
                <a:spcPts val="0"/>
              </a:spcBef>
              <a:spcAft>
                <a:spcPts val="400"/>
              </a:spcAft>
            </a:pPr>
            <a:r>
              <a:rPr sz="1300" b="0">
                <a:solidFill>
                  <a:srgbClr val="6E6E73"/>
                </a:solidFill>
                <a:latin typeface="Helvetica Neue"/>
              </a:rPr>
              <a:t>Klíčový dopravní bod pro celou čtvrť</a:t>
            </a:r>
          </a:p>
        </p:txBody>
      </p:sp>
      <p:pic>
        <p:nvPicPr>
          <p:cNvPr id="10" name="Picture 9" descr="rychlik.jpg"/>
          <p:cNvPicPr>
            <a:picLocks noChangeAspect="1"/>
          </p:cNvPicPr>
          <p:nvPr/>
        </p:nvPicPr>
        <p:blipFill>
          <a:blip r:embed="rId4"/>
          <a:srcRect l="4052" r="4052"/>
          <a:stretch>
            <a:fillRect/>
          </a:stretch>
        </p:blipFill>
        <p:spPr>
          <a:xfrm>
            <a:off x="8257032" y="2103120"/>
            <a:ext cx="3429000" cy="2697480"/>
          </a:xfrm>
          <a:prstGeom prst="rect">
            <a:avLst/>
          </a:prstGeom>
        </p:spPr>
      </p:pic>
      <p:sp>
        <p:nvSpPr>
          <p:cNvPr id="11" name="Rectangle 10"/>
          <p:cNvSpPr/>
          <p:nvPr/>
        </p:nvSpPr>
        <p:spPr>
          <a:xfrm>
            <a:off x="8257032" y="4800600"/>
            <a:ext cx="457200" cy="82296"/>
          </a:xfrm>
          <a:prstGeom prst="rect">
            <a:avLst/>
          </a:prstGeom>
          <a:solidFill>
            <a:srgbClr val="008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57032" y="5001768"/>
            <a:ext cx="3429000" cy="1188720"/>
          </a:xfrm>
          <a:prstGeom prst="rect">
            <a:avLst/>
          </a:prstGeom>
          <a:noFill/>
        </p:spPr>
        <p:txBody>
          <a:bodyPr wrap="square" anchor="t" lIns="0" rIns="0" tIns="0" bIns="0">
            <a:spAutoFit/>
          </a:bodyPr>
          <a:lstStyle/>
          <a:p>
            <a:pPr algn="l">
              <a:lnSpc>
                <a:spcPct val="105000"/>
              </a:lnSpc>
              <a:spcBef>
                <a:spcPts val="0"/>
              </a:spcBef>
              <a:spcAft>
                <a:spcPts val="400"/>
              </a:spcAft>
            </a:pPr>
            <a:r>
              <a:rPr sz="2000" b="1">
                <a:solidFill>
                  <a:srgbClr val="1D1D1F"/>
                </a:solidFill>
                <a:latin typeface="Helvetica Neue"/>
              </a:rPr>
              <a:t>Rychle do centra</a:t>
            </a:r>
          </a:p>
          <a:p>
            <a:pPr algn="l">
              <a:lnSpc>
                <a:spcPct val="105000"/>
              </a:lnSpc>
              <a:spcBef>
                <a:spcPts val="0"/>
              </a:spcBef>
              <a:spcAft>
                <a:spcPts val="400"/>
              </a:spcAft>
            </a:pPr>
            <a:r>
              <a:rPr sz="1300" b="0">
                <a:solidFill>
                  <a:srgbClr val="6E6E73"/>
                </a:solidFill>
                <a:latin typeface="Helvetica Neue"/>
              </a:rPr>
              <a:t>Přímé spojení do středu města</a:t>
            </a:r>
          </a:p>
        </p:txBody>
      </p:sp>
      <p:sp>
        <p:nvSpPr>
          <p:cNvPr id="13" name="TextBox 12"/>
          <p:cNvSpPr txBox="1"/>
          <p:nvPr/>
        </p:nvSpPr>
        <p:spPr>
          <a:xfrm>
            <a:off x="0" y="6547104"/>
            <a:ext cx="11963095" cy="274320"/>
          </a:xfrm>
          <a:prstGeom prst="rect">
            <a:avLst/>
          </a:prstGeom>
          <a:noFill/>
        </p:spPr>
        <p:txBody>
          <a:bodyPr wrap="square" anchor="t" lIns="0" rIns="0" tIns="0" bIns="0">
            <a:spAutoFit/>
          </a:bodyPr>
          <a:lstStyle/>
          <a:p>
            <a:pPr algn="r">
              <a:spcBef>
                <a:spcPts val="0"/>
              </a:spcBef>
            </a:pPr>
            <a:r>
              <a:rPr sz="700" b="0">
                <a:solidFill>
                  <a:srgbClr val="C9C9CE"/>
                </a:solidFill>
                <a:latin typeface="Helvetica Neue"/>
              </a:rPr>
              <a:t>Foto: ŠJů · CC BY 4.0 · Wikimedia Commons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ormer_station.jpg"/>
          <p:cNvPicPr>
            <a:picLocks noChangeAspect="1"/>
          </p:cNvPicPr>
          <p:nvPr/>
        </p:nvPicPr>
        <p:blipFill>
          <a:blip r:embed="rId2"/>
          <a:srcRect l="25250" r="25250"/>
          <a:stretch>
            <a:fillRect/>
          </a:stretch>
        </p:blipFill>
        <p:spPr>
          <a:xfrm>
            <a:off x="7665415" y="0"/>
            <a:ext cx="4526280" cy="6858000"/>
          </a:xfrm>
          <a:prstGeom prst="rect">
            <a:avLst/>
          </a:prstGeom>
        </p:spPr>
      </p:pic>
      <p:sp>
        <p:nvSpPr>
          <p:cNvPr id="3" name="Rectangle 2"/>
          <p:cNvSpPr/>
          <p:nvPr/>
        </p:nvSpPr>
        <p:spPr>
          <a:xfrm>
            <a:off x="7665415" y="4206240"/>
            <a:ext cx="4526280" cy="2651760"/>
          </a:xfrm>
          <a:prstGeom prst="rect">
            <a:avLst/>
          </a:prstGeom>
          <a:gradFill>
            <a:gsLst>
              <a:gs pos="0">
                <a:srgbClr val="000000">
                  <a:alpha val="0"/>
                </a:srgbClr>
              </a:gs>
              <a:gs pos="100000">
                <a:srgbClr val="000000">
                  <a:alpha val="70000"/>
                </a:srgb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939735" y="5806440"/>
            <a:ext cx="4069080" cy="822960"/>
          </a:xfrm>
          <a:prstGeom prst="rect">
            <a:avLst/>
          </a:prstGeom>
          <a:noFill/>
        </p:spPr>
        <p:txBody>
          <a:bodyPr wrap="square" anchor="t" lIns="0" rIns="0" tIns="0" bIns="0">
            <a:spAutoFit/>
          </a:bodyPr>
          <a:lstStyle/>
          <a:p>
            <a:pPr algn="l">
              <a:lnSpc>
                <a:spcPct val="100000"/>
              </a:lnSpc>
              <a:spcBef>
                <a:spcPts val="0"/>
              </a:spcBef>
              <a:spcAft>
                <a:spcPts val="200"/>
              </a:spcAft>
            </a:pPr>
            <a:r>
              <a:rPr sz="1300" b="1">
                <a:solidFill>
                  <a:srgbClr val="FFFFFF"/>
                </a:solidFill>
                <a:latin typeface="Helvetica Neue"/>
              </a:rPr>
              <a:t>Původní zastávka Praha-Podbaba</a:t>
            </a:r>
          </a:p>
          <a:p>
            <a:pPr algn="l">
              <a:lnSpc>
                <a:spcPct val="100000"/>
              </a:lnSpc>
              <a:spcBef>
                <a:spcPts val="0"/>
              </a:spcBef>
              <a:spcAft>
                <a:spcPts val="200"/>
              </a:spcAft>
            </a:pPr>
            <a:r>
              <a:rPr sz="1050" b="0">
                <a:solidFill>
                  <a:srgbClr val="E7E7EC"/>
                </a:solidFill>
                <a:latin typeface="Helvetica Neue"/>
              </a:rPr>
              <a:t>provoz pro cestující 1867–1949</a:t>
            </a:r>
          </a:p>
        </p:txBody>
      </p:sp>
      <p:sp>
        <p:nvSpPr>
          <p:cNvPr id="5" name="TextBox 4"/>
          <p:cNvSpPr txBox="1"/>
          <p:nvPr/>
        </p:nvSpPr>
        <p:spPr>
          <a:xfrm>
            <a:off x="777240" y="640080"/>
            <a:ext cx="7315200" cy="365760"/>
          </a:xfrm>
          <a:prstGeom prst="rect">
            <a:avLst/>
          </a:prstGeom>
          <a:noFill/>
        </p:spPr>
        <p:txBody>
          <a:bodyPr wrap="square" anchor="t" lIns="0" rIns="0" tIns="0" bIns="0">
            <a:spAutoFit/>
          </a:bodyPr>
          <a:lstStyle/>
          <a:p>
            <a:pPr algn="l">
              <a:spcBef>
                <a:spcPts val="0"/>
              </a:spcBef>
            </a:pPr>
            <a:r>
              <a:rPr sz="1250" b="1" spc="220">
                <a:solidFill>
                  <a:srgbClr val="0071E3"/>
                </a:solidFill>
                <a:latin typeface="Helvetica Neue"/>
              </a:rPr>
              <a:t>ZAJÍMAVOSTI</a:t>
            </a:r>
          </a:p>
        </p:txBody>
      </p:sp>
      <p:sp>
        <p:nvSpPr>
          <p:cNvPr id="6" name="TextBox 5"/>
          <p:cNvSpPr txBox="1"/>
          <p:nvPr/>
        </p:nvSpPr>
        <p:spPr>
          <a:xfrm>
            <a:off x="758952" y="1005840"/>
            <a:ext cx="6675120" cy="914400"/>
          </a:xfrm>
          <a:prstGeom prst="rect">
            <a:avLst/>
          </a:prstGeom>
          <a:noFill/>
        </p:spPr>
        <p:txBody>
          <a:bodyPr wrap="square" anchor="t" lIns="0" rIns="0" tIns="0" bIns="0">
            <a:spAutoFit/>
          </a:bodyPr>
          <a:lstStyle/>
          <a:p>
            <a:pPr algn="l">
              <a:spcBef>
                <a:spcPts val="0"/>
              </a:spcBef>
            </a:pPr>
            <a:r>
              <a:rPr sz="3400" b="0">
                <a:solidFill>
                  <a:srgbClr val="1D1D1F"/>
                </a:solidFill>
                <a:latin typeface="Helvetica Neue"/>
              </a:rPr>
              <a:t>Stanice s dlouhou historií</a:t>
            </a:r>
          </a:p>
        </p:txBody>
      </p:sp>
      <p:cxnSp>
        <p:nvCxnSpPr>
          <p:cNvPr id="7" name="Connector 6"/>
          <p:cNvCxnSpPr/>
          <p:nvPr/>
        </p:nvCxnSpPr>
        <p:spPr>
          <a:xfrm>
            <a:off x="914400" y="3246120"/>
            <a:ext cx="6126480" cy="0"/>
          </a:xfrm>
          <a:prstGeom prst="bentConnector3">
            <a:avLst/>
          </a:prstGeom>
          <a:ln w="25400">
            <a:solidFill>
              <a:srgbClr val="D2D2D7"/>
            </a:solidFill>
          </a:ln>
          <a:effectLst/>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813816" y="3145536"/>
            <a:ext cx="201168" cy="201168"/>
          </a:xfrm>
          <a:prstGeom prst="ellipse">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Helvetica Neue"/>
              </a:rPr>
              <a:t/>
            </a:r>
          </a:p>
        </p:txBody>
      </p:sp>
      <p:sp>
        <p:nvSpPr>
          <p:cNvPr id="9" name="TextBox 8"/>
          <p:cNvSpPr txBox="1"/>
          <p:nvPr/>
        </p:nvSpPr>
        <p:spPr>
          <a:xfrm>
            <a:off x="91440" y="2377440"/>
            <a:ext cx="1645920" cy="457200"/>
          </a:xfrm>
          <a:prstGeom prst="rect">
            <a:avLst/>
          </a:prstGeom>
          <a:noFill/>
        </p:spPr>
        <p:txBody>
          <a:bodyPr wrap="square" anchor="t" lIns="0" rIns="0" tIns="0" bIns="0">
            <a:spAutoFit/>
          </a:bodyPr>
          <a:lstStyle/>
          <a:p>
            <a:pPr algn="ctr">
              <a:spcBef>
                <a:spcPts val="0"/>
              </a:spcBef>
            </a:pPr>
            <a:r>
              <a:rPr sz="1500" b="1">
                <a:solidFill>
                  <a:srgbClr val="1D1D1F"/>
                </a:solidFill>
                <a:latin typeface="Helvetica Neue"/>
              </a:rPr>
              <a:t>1867</a:t>
            </a:r>
          </a:p>
        </p:txBody>
      </p:sp>
      <p:sp>
        <p:nvSpPr>
          <p:cNvPr id="10" name="TextBox 9"/>
          <p:cNvSpPr txBox="1"/>
          <p:nvPr/>
        </p:nvSpPr>
        <p:spPr>
          <a:xfrm>
            <a:off x="45720" y="3502152"/>
            <a:ext cx="1737360" cy="365760"/>
          </a:xfrm>
          <a:prstGeom prst="rect">
            <a:avLst/>
          </a:prstGeom>
          <a:noFill/>
        </p:spPr>
        <p:txBody>
          <a:bodyPr wrap="square" anchor="t" lIns="0" rIns="0" tIns="0" bIns="0">
            <a:spAutoFit/>
          </a:bodyPr>
          <a:lstStyle/>
          <a:p>
            <a:pPr algn="ctr">
              <a:spcBef>
                <a:spcPts val="0"/>
              </a:spcBef>
            </a:pPr>
            <a:r>
              <a:rPr sz="1050" b="0">
                <a:solidFill>
                  <a:srgbClr val="6E6E73"/>
                </a:solidFill>
                <a:latin typeface="Helvetica Neue"/>
              </a:rPr>
              <a:t>první železniční</a:t>
            </a:r>
          </a:p>
        </p:txBody>
      </p:sp>
      <p:sp>
        <p:nvSpPr>
          <p:cNvPr id="11" name="TextBox 10"/>
          <p:cNvSpPr txBox="1"/>
          <p:nvPr/>
        </p:nvSpPr>
        <p:spPr>
          <a:xfrm>
            <a:off x="45720" y="3721608"/>
            <a:ext cx="1737360" cy="365760"/>
          </a:xfrm>
          <a:prstGeom prst="rect">
            <a:avLst/>
          </a:prstGeom>
          <a:noFill/>
        </p:spPr>
        <p:txBody>
          <a:bodyPr wrap="square" anchor="t" lIns="0" rIns="0" tIns="0" bIns="0">
            <a:spAutoFit/>
          </a:bodyPr>
          <a:lstStyle/>
          <a:p>
            <a:pPr algn="ctr">
              <a:spcBef>
                <a:spcPts val="0"/>
              </a:spcBef>
            </a:pPr>
            <a:r>
              <a:rPr sz="1050" b="0">
                <a:solidFill>
                  <a:srgbClr val="6E6E73"/>
                </a:solidFill>
                <a:latin typeface="Helvetica Neue"/>
              </a:rPr>
              <a:t>zastávka v okolí</a:t>
            </a:r>
          </a:p>
        </p:txBody>
      </p:sp>
      <p:sp>
        <p:nvSpPr>
          <p:cNvPr id="12" name="Oval 11"/>
          <p:cNvSpPr/>
          <p:nvPr/>
        </p:nvSpPr>
        <p:spPr>
          <a:xfrm>
            <a:off x="2855976" y="3145536"/>
            <a:ext cx="201168" cy="201168"/>
          </a:xfrm>
          <a:prstGeom prst="ellipse">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Helvetica Neue"/>
              </a:rPr>
              <a:t/>
            </a:r>
          </a:p>
        </p:txBody>
      </p:sp>
      <p:sp>
        <p:nvSpPr>
          <p:cNvPr id="13" name="TextBox 12"/>
          <p:cNvSpPr txBox="1"/>
          <p:nvPr/>
        </p:nvSpPr>
        <p:spPr>
          <a:xfrm>
            <a:off x="2133600" y="2377440"/>
            <a:ext cx="1645920" cy="457200"/>
          </a:xfrm>
          <a:prstGeom prst="rect">
            <a:avLst/>
          </a:prstGeom>
          <a:noFill/>
        </p:spPr>
        <p:txBody>
          <a:bodyPr wrap="square" anchor="t" lIns="0" rIns="0" tIns="0" bIns="0">
            <a:spAutoFit/>
          </a:bodyPr>
          <a:lstStyle/>
          <a:p>
            <a:pPr algn="ctr">
              <a:spcBef>
                <a:spcPts val="0"/>
              </a:spcBef>
            </a:pPr>
            <a:r>
              <a:rPr sz="1500" b="1">
                <a:solidFill>
                  <a:srgbClr val="1D1D1F"/>
                </a:solidFill>
                <a:latin typeface="Helvetica Neue"/>
              </a:rPr>
              <a:t>2011</a:t>
            </a:r>
          </a:p>
        </p:txBody>
      </p:sp>
      <p:sp>
        <p:nvSpPr>
          <p:cNvPr id="14" name="TextBox 13"/>
          <p:cNvSpPr txBox="1"/>
          <p:nvPr/>
        </p:nvSpPr>
        <p:spPr>
          <a:xfrm>
            <a:off x="2087880" y="3502152"/>
            <a:ext cx="1737360" cy="365760"/>
          </a:xfrm>
          <a:prstGeom prst="rect">
            <a:avLst/>
          </a:prstGeom>
          <a:noFill/>
        </p:spPr>
        <p:txBody>
          <a:bodyPr wrap="square" anchor="t" lIns="0" rIns="0" tIns="0" bIns="0">
            <a:spAutoFit/>
          </a:bodyPr>
          <a:lstStyle/>
          <a:p>
            <a:pPr algn="ctr">
              <a:spcBef>
                <a:spcPts val="0"/>
              </a:spcBef>
            </a:pPr>
            <a:r>
              <a:rPr sz="1050" b="0">
                <a:solidFill>
                  <a:srgbClr val="6E6E73"/>
                </a:solidFill>
                <a:latin typeface="Helvetica Neue"/>
              </a:rPr>
              <a:t>otevřena nová</a:t>
            </a:r>
          </a:p>
        </p:txBody>
      </p:sp>
      <p:sp>
        <p:nvSpPr>
          <p:cNvPr id="15" name="TextBox 14"/>
          <p:cNvSpPr txBox="1"/>
          <p:nvPr/>
        </p:nvSpPr>
        <p:spPr>
          <a:xfrm>
            <a:off x="2087880" y="3721608"/>
            <a:ext cx="1737360" cy="365760"/>
          </a:xfrm>
          <a:prstGeom prst="rect">
            <a:avLst/>
          </a:prstGeom>
          <a:noFill/>
        </p:spPr>
        <p:txBody>
          <a:bodyPr wrap="square" anchor="t" lIns="0" rIns="0" tIns="0" bIns="0">
            <a:spAutoFit/>
          </a:bodyPr>
          <a:lstStyle/>
          <a:p>
            <a:pPr algn="ctr">
              <a:spcBef>
                <a:spcPts val="0"/>
              </a:spcBef>
            </a:pPr>
            <a:r>
              <a:rPr sz="1050" b="0">
                <a:solidFill>
                  <a:srgbClr val="6E6E73"/>
                </a:solidFill>
                <a:latin typeface="Helvetica Neue"/>
              </a:rPr>
              <a:t>tramvajová smyčka</a:t>
            </a:r>
          </a:p>
        </p:txBody>
      </p:sp>
      <p:sp>
        <p:nvSpPr>
          <p:cNvPr id="16" name="Oval 15"/>
          <p:cNvSpPr/>
          <p:nvPr/>
        </p:nvSpPr>
        <p:spPr>
          <a:xfrm>
            <a:off x="4898136" y="3145536"/>
            <a:ext cx="201168" cy="201168"/>
          </a:xfrm>
          <a:prstGeom prst="ellipse">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Helvetica Neue"/>
              </a:rPr>
              <a:t/>
            </a:r>
          </a:p>
        </p:txBody>
      </p:sp>
      <p:sp>
        <p:nvSpPr>
          <p:cNvPr id="17" name="TextBox 16"/>
          <p:cNvSpPr txBox="1"/>
          <p:nvPr/>
        </p:nvSpPr>
        <p:spPr>
          <a:xfrm>
            <a:off x="4175760" y="2377440"/>
            <a:ext cx="1645920" cy="457200"/>
          </a:xfrm>
          <a:prstGeom prst="rect">
            <a:avLst/>
          </a:prstGeom>
          <a:noFill/>
        </p:spPr>
        <p:txBody>
          <a:bodyPr wrap="square" anchor="t" lIns="0" rIns="0" tIns="0" bIns="0">
            <a:spAutoFit/>
          </a:bodyPr>
          <a:lstStyle/>
          <a:p>
            <a:pPr algn="ctr">
              <a:spcBef>
                <a:spcPts val="0"/>
              </a:spcBef>
            </a:pPr>
            <a:r>
              <a:rPr sz="1500" b="1">
                <a:solidFill>
                  <a:srgbClr val="1D1D1F"/>
                </a:solidFill>
                <a:latin typeface="Helvetica Neue"/>
              </a:rPr>
              <a:t>28. 8. 2014</a:t>
            </a:r>
          </a:p>
        </p:txBody>
      </p:sp>
      <p:sp>
        <p:nvSpPr>
          <p:cNvPr id="18" name="TextBox 17"/>
          <p:cNvSpPr txBox="1"/>
          <p:nvPr/>
        </p:nvSpPr>
        <p:spPr>
          <a:xfrm>
            <a:off x="4130040" y="3502152"/>
            <a:ext cx="1737360" cy="365760"/>
          </a:xfrm>
          <a:prstGeom prst="rect">
            <a:avLst/>
          </a:prstGeom>
          <a:noFill/>
        </p:spPr>
        <p:txBody>
          <a:bodyPr wrap="square" anchor="t" lIns="0" rIns="0" tIns="0" bIns="0">
            <a:spAutoFit/>
          </a:bodyPr>
          <a:lstStyle/>
          <a:p>
            <a:pPr algn="ctr">
              <a:spcBef>
                <a:spcPts val="0"/>
              </a:spcBef>
            </a:pPr>
            <a:r>
              <a:rPr sz="1050" b="0">
                <a:solidFill>
                  <a:srgbClr val="6E6E73"/>
                </a:solidFill>
                <a:latin typeface="Helvetica Neue"/>
              </a:rPr>
              <a:t>poslední vlak</a:t>
            </a:r>
          </a:p>
        </p:txBody>
      </p:sp>
      <p:sp>
        <p:nvSpPr>
          <p:cNvPr id="19" name="TextBox 18"/>
          <p:cNvSpPr txBox="1"/>
          <p:nvPr/>
        </p:nvSpPr>
        <p:spPr>
          <a:xfrm>
            <a:off x="4130040" y="3721608"/>
            <a:ext cx="1737360" cy="365760"/>
          </a:xfrm>
          <a:prstGeom prst="rect">
            <a:avLst/>
          </a:prstGeom>
          <a:noFill/>
        </p:spPr>
        <p:txBody>
          <a:bodyPr wrap="square" anchor="t" lIns="0" rIns="0" tIns="0" bIns="0">
            <a:spAutoFit/>
          </a:bodyPr>
          <a:lstStyle/>
          <a:p>
            <a:pPr algn="ctr">
              <a:spcBef>
                <a:spcPts val="0"/>
              </a:spcBef>
            </a:pPr>
            <a:r>
              <a:rPr sz="1050" b="0">
                <a:solidFill>
                  <a:srgbClr val="6E6E73"/>
                </a:solidFill>
                <a:latin typeface="Helvetica Neue"/>
              </a:rPr>
              <a:t>v Praze-Bubenči</a:t>
            </a:r>
          </a:p>
        </p:txBody>
      </p:sp>
      <p:sp>
        <p:nvSpPr>
          <p:cNvPr id="20" name="Oval 19"/>
          <p:cNvSpPr/>
          <p:nvPr/>
        </p:nvSpPr>
        <p:spPr>
          <a:xfrm>
            <a:off x="6940296" y="3145536"/>
            <a:ext cx="201168" cy="201168"/>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Helvetica Neue"/>
              </a:rPr>
              <a:t/>
            </a:r>
          </a:p>
        </p:txBody>
      </p:sp>
      <p:sp>
        <p:nvSpPr>
          <p:cNvPr id="21" name="TextBox 20"/>
          <p:cNvSpPr txBox="1"/>
          <p:nvPr/>
        </p:nvSpPr>
        <p:spPr>
          <a:xfrm>
            <a:off x="6217920" y="2377440"/>
            <a:ext cx="1645920" cy="457200"/>
          </a:xfrm>
          <a:prstGeom prst="rect">
            <a:avLst/>
          </a:prstGeom>
          <a:noFill/>
        </p:spPr>
        <p:txBody>
          <a:bodyPr wrap="square" anchor="t" lIns="0" rIns="0" tIns="0" bIns="0">
            <a:spAutoFit/>
          </a:bodyPr>
          <a:lstStyle/>
          <a:p>
            <a:pPr algn="ctr">
              <a:spcBef>
                <a:spcPts val="0"/>
              </a:spcBef>
            </a:pPr>
            <a:r>
              <a:rPr sz="1500" b="1">
                <a:solidFill>
                  <a:srgbClr val="0071E3"/>
                </a:solidFill>
                <a:latin typeface="Helvetica Neue"/>
              </a:rPr>
              <a:t>29. 8. 2014</a:t>
            </a:r>
          </a:p>
        </p:txBody>
      </p:sp>
      <p:sp>
        <p:nvSpPr>
          <p:cNvPr id="22" name="TextBox 21"/>
          <p:cNvSpPr txBox="1"/>
          <p:nvPr/>
        </p:nvSpPr>
        <p:spPr>
          <a:xfrm>
            <a:off x="6172200" y="3502152"/>
            <a:ext cx="1737360" cy="365760"/>
          </a:xfrm>
          <a:prstGeom prst="rect">
            <a:avLst/>
          </a:prstGeom>
          <a:noFill/>
        </p:spPr>
        <p:txBody>
          <a:bodyPr wrap="square" anchor="t" lIns="0" rIns="0" tIns="0" bIns="0">
            <a:spAutoFit/>
          </a:bodyPr>
          <a:lstStyle/>
          <a:p>
            <a:pPr algn="ctr">
              <a:spcBef>
                <a:spcPts val="0"/>
              </a:spcBef>
            </a:pPr>
            <a:r>
              <a:rPr sz="1050" b="0">
                <a:solidFill>
                  <a:srgbClr val="6E6E73"/>
                </a:solidFill>
                <a:latin typeface="Helvetica Neue"/>
              </a:rPr>
              <a:t>otevření moderní</a:t>
            </a:r>
          </a:p>
        </p:txBody>
      </p:sp>
      <p:sp>
        <p:nvSpPr>
          <p:cNvPr id="23" name="TextBox 22"/>
          <p:cNvSpPr txBox="1"/>
          <p:nvPr/>
        </p:nvSpPr>
        <p:spPr>
          <a:xfrm>
            <a:off x="6172200" y="3721608"/>
            <a:ext cx="1737360" cy="365760"/>
          </a:xfrm>
          <a:prstGeom prst="rect">
            <a:avLst/>
          </a:prstGeom>
          <a:noFill/>
        </p:spPr>
        <p:txBody>
          <a:bodyPr wrap="square" anchor="t" lIns="0" rIns="0" tIns="0" bIns="0">
            <a:spAutoFit/>
          </a:bodyPr>
          <a:lstStyle/>
          <a:p>
            <a:pPr algn="ctr">
              <a:spcBef>
                <a:spcPts val="0"/>
              </a:spcBef>
            </a:pPr>
            <a:r>
              <a:rPr sz="1050" b="0">
                <a:solidFill>
                  <a:srgbClr val="6E6E73"/>
                </a:solidFill>
                <a:latin typeface="Helvetica Neue"/>
              </a:rPr>
              <a:t>stanice Podbaba</a:t>
            </a:r>
          </a:p>
        </p:txBody>
      </p:sp>
      <p:sp>
        <p:nvSpPr>
          <p:cNvPr id="24" name="Rectangle 23"/>
          <p:cNvSpPr/>
          <p:nvPr/>
        </p:nvSpPr>
        <p:spPr>
          <a:xfrm>
            <a:off x="777240" y="5074920"/>
            <a:ext cx="82296" cy="868680"/>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029200"/>
            <a:ext cx="6126480" cy="1097280"/>
          </a:xfrm>
          <a:prstGeom prst="rect">
            <a:avLst/>
          </a:prstGeom>
          <a:noFill/>
        </p:spPr>
        <p:txBody>
          <a:bodyPr wrap="square" anchor="t" lIns="0" rIns="0" tIns="0" bIns="0">
            <a:spAutoFit/>
          </a:bodyPr>
          <a:lstStyle/>
          <a:p>
            <a:pPr algn="l">
              <a:lnSpc>
                <a:spcPct val="105000"/>
              </a:lnSpc>
              <a:spcBef>
                <a:spcPts val="0"/>
              </a:spcBef>
              <a:spcAft>
                <a:spcPts val="200"/>
              </a:spcAft>
            </a:pPr>
            <a:r>
              <a:rPr sz="1500" b="1">
                <a:solidFill>
                  <a:srgbClr val="1D1D1F"/>
                </a:solidFill>
                <a:latin typeface="Helvetica Neue"/>
              </a:rPr>
              <a:t>Postavena jako moderní přestupní terminál</a:t>
            </a:r>
          </a:p>
          <a:p>
            <a:pPr algn="l">
              <a:lnSpc>
                <a:spcPct val="105000"/>
              </a:lnSpc>
              <a:spcBef>
                <a:spcPts val="0"/>
              </a:spcBef>
              <a:spcAft>
                <a:spcPts val="200"/>
              </a:spcAft>
            </a:pPr>
            <a:r>
              <a:rPr sz="1250" b="0">
                <a:solidFill>
                  <a:srgbClr val="6E6E73"/>
                </a:solidFill>
                <a:latin typeface="Helvetica Neue"/>
              </a:rPr>
              <a:t>Stanice vznikla přímo u tramvajové smyčky, aby umožnila</a:t>
            </a:r>
          </a:p>
          <a:p>
            <a:pPr algn="l">
              <a:lnSpc>
                <a:spcPct val="105000"/>
              </a:lnSpc>
              <a:spcBef>
                <a:spcPts val="0"/>
              </a:spcBef>
              <a:spcAft>
                <a:spcPts val="200"/>
              </a:spcAft>
            </a:pPr>
            <a:r>
              <a:rPr sz="1250" b="0">
                <a:solidFill>
                  <a:srgbClr val="6E6E73"/>
                </a:solidFill>
                <a:latin typeface="Helvetica Neue"/>
              </a:rPr>
              <a:t>pohodlný přestup mezi vlakem a městskou dopravou.</a:t>
            </a:r>
          </a:p>
        </p:txBody>
      </p:sp>
      <p:sp>
        <p:nvSpPr>
          <p:cNvPr id="26" name="TextBox 25"/>
          <p:cNvSpPr txBox="1"/>
          <p:nvPr/>
        </p:nvSpPr>
        <p:spPr>
          <a:xfrm>
            <a:off x="0" y="6547104"/>
            <a:ext cx="11963095" cy="274320"/>
          </a:xfrm>
          <a:prstGeom prst="rect">
            <a:avLst/>
          </a:prstGeom>
          <a:noFill/>
        </p:spPr>
        <p:txBody>
          <a:bodyPr wrap="square" anchor="t" lIns="0" rIns="0" tIns="0" bIns="0">
            <a:spAutoFit/>
          </a:bodyPr>
          <a:lstStyle/>
          <a:p>
            <a:pPr algn="r">
              <a:spcBef>
                <a:spcPts val="0"/>
              </a:spcBef>
            </a:pPr>
            <a:r>
              <a:rPr sz="700" b="0">
                <a:solidFill>
                  <a:srgbClr val="C9C9CE"/>
                </a:solidFill>
                <a:latin typeface="Helvetica Neue"/>
              </a:rPr>
              <a:t>Foto: ŠJů · CC BY-SA 3.0 · Wikimedia Commons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nchor="t" lIns="0" rIns="0" tIns="0" bIns="0">
            <a:spAutoFit/>
          </a:bodyPr>
          <a:lstStyle/>
          <a:p>
            <a:pPr algn="l">
              <a:spcBef>
                <a:spcPts val="0"/>
              </a:spcBef>
            </a:pPr>
            <a:r>
              <a:rPr sz="1250" b="1" spc="220">
                <a:solidFill>
                  <a:srgbClr val="0071E3"/>
                </a:solidFill>
                <a:latin typeface="Helvetica Neue"/>
              </a:rPr>
              <a:t>GALERIE</a:t>
            </a:r>
          </a:p>
        </p:txBody>
      </p:sp>
      <p:sp>
        <p:nvSpPr>
          <p:cNvPr id="3" name="TextBox 2"/>
          <p:cNvSpPr txBox="1"/>
          <p:nvPr/>
        </p:nvSpPr>
        <p:spPr>
          <a:xfrm>
            <a:off x="530352" y="731520"/>
            <a:ext cx="10058400" cy="731520"/>
          </a:xfrm>
          <a:prstGeom prst="rect">
            <a:avLst/>
          </a:prstGeom>
          <a:noFill/>
        </p:spPr>
        <p:txBody>
          <a:bodyPr wrap="square" anchor="t" lIns="0" rIns="0" tIns="0" bIns="0">
            <a:spAutoFit/>
          </a:bodyPr>
          <a:lstStyle/>
          <a:p>
            <a:pPr algn="l">
              <a:spcBef>
                <a:spcPts val="0"/>
              </a:spcBef>
            </a:pPr>
            <a:r>
              <a:rPr sz="3000" b="0">
                <a:solidFill>
                  <a:srgbClr val="1D1D1F"/>
                </a:solidFill>
                <a:latin typeface="Helvetica Neue"/>
              </a:rPr>
              <a:t>Jak stanice vypadá</a:t>
            </a:r>
          </a:p>
        </p:txBody>
      </p:sp>
      <p:pic>
        <p:nvPicPr>
          <p:cNvPr id="4" name="Picture 3" descr="platform_prague.jpg"/>
          <p:cNvPicPr>
            <a:picLocks noChangeAspect="1"/>
          </p:cNvPicPr>
          <p:nvPr/>
        </p:nvPicPr>
        <p:blipFill>
          <a:blip r:embed="rId2"/>
          <a:srcRect t="7351" b="7351"/>
          <a:stretch>
            <a:fillRect/>
          </a:stretch>
        </p:blipFill>
        <p:spPr>
          <a:xfrm>
            <a:off x="548640" y="1691640"/>
            <a:ext cx="3588410" cy="2249424"/>
          </a:xfrm>
          <a:prstGeom prst="rect">
            <a:avLst/>
          </a:prstGeom>
        </p:spPr>
      </p:pic>
      <p:sp>
        <p:nvSpPr>
          <p:cNvPr id="5" name="Rectangle 4"/>
          <p:cNvSpPr/>
          <p:nvPr/>
        </p:nvSpPr>
        <p:spPr>
          <a:xfrm>
            <a:off x="548640" y="3300984"/>
            <a:ext cx="3588410" cy="640080"/>
          </a:xfrm>
          <a:prstGeom prst="rect">
            <a:avLst/>
          </a:prstGeom>
          <a:gradFill>
            <a:gsLst>
              <a:gs pos="0">
                <a:srgbClr val="000000">
                  <a:alpha val="0"/>
                </a:srgbClr>
              </a:gs>
              <a:gs pos="100000">
                <a:srgbClr val="000000">
                  <a:alpha val="68000"/>
                </a:srgb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3557016"/>
            <a:ext cx="3314090" cy="320040"/>
          </a:xfrm>
          <a:prstGeom prst="rect">
            <a:avLst/>
          </a:prstGeom>
          <a:noFill/>
        </p:spPr>
        <p:txBody>
          <a:bodyPr wrap="square" anchor="t" lIns="0" rIns="0" tIns="0" bIns="0">
            <a:spAutoFit/>
          </a:bodyPr>
          <a:lstStyle/>
          <a:p>
            <a:pPr algn="l">
              <a:spcBef>
                <a:spcPts val="0"/>
              </a:spcBef>
            </a:pPr>
            <a:r>
              <a:rPr sz="1200" b="1">
                <a:solidFill>
                  <a:srgbClr val="FFFFFF"/>
                </a:solidFill>
                <a:latin typeface="Helvetica Neue"/>
              </a:rPr>
              <a:t>Nástupiště</a:t>
            </a:r>
          </a:p>
        </p:txBody>
      </p:sp>
      <p:pic>
        <p:nvPicPr>
          <p:cNvPr id="7" name="Picture 6" descr="tram_loop.jpg"/>
          <p:cNvPicPr>
            <a:picLocks noChangeAspect="1"/>
          </p:cNvPicPr>
          <p:nvPr/>
        </p:nvPicPr>
        <p:blipFill>
          <a:blip r:embed="rId3"/>
          <a:srcRect t="8209" b="8209"/>
          <a:stretch>
            <a:fillRect/>
          </a:stretch>
        </p:blipFill>
        <p:spPr>
          <a:xfrm>
            <a:off x="4301642" y="1691640"/>
            <a:ext cx="3588410" cy="2249424"/>
          </a:xfrm>
          <a:prstGeom prst="rect">
            <a:avLst/>
          </a:prstGeom>
        </p:spPr>
      </p:pic>
      <p:sp>
        <p:nvSpPr>
          <p:cNvPr id="8" name="Rectangle 7"/>
          <p:cNvSpPr/>
          <p:nvPr/>
        </p:nvSpPr>
        <p:spPr>
          <a:xfrm>
            <a:off x="4301642" y="3300984"/>
            <a:ext cx="3588410" cy="640080"/>
          </a:xfrm>
          <a:prstGeom prst="rect">
            <a:avLst/>
          </a:prstGeom>
          <a:gradFill>
            <a:gsLst>
              <a:gs pos="0">
                <a:srgbClr val="000000">
                  <a:alpha val="0"/>
                </a:srgbClr>
              </a:gs>
              <a:gs pos="100000">
                <a:srgbClr val="000000">
                  <a:alpha val="68000"/>
                </a:srgb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66234" y="3557016"/>
            <a:ext cx="3314090" cy="320040"/>
          </a:xfrm>
          <a:prstGeom prst="rect">
            <a:avLst/>
          </a:prstGeom>
          <a:noFill/>
        </p:spPr>
        <p:txBody>
          <a:bodyPr wrap="square" anchor="t" lIns="0" rIns="0" tIns="0" bIns="0">
            <a:spAutoFit/>
          </a:bodyPr>
          <a:lstStyle/>
          <a:p>
            <a:pPr algn="l">
              <a:spcBef>
                <a:spcPts val="0"/>
              </a:spcBef>
            </a:pPr>
            <a:r>
              <a:rPr sz="1200" b="1">
                <a:solidFill>
                  <a:srgbClr val="FFFFFF"/>
                </a:solidFill>
                <a:latin typeface="Helvetica Neue"/>
              </a:rPr>
              <a:t>Tramvajová smyčka</a:t>
            </a:r>
          </a:p>
        </p:txBody>
      </p:sp>
      <p:pic>
        <p:nvPicPr>
          <p:cNvPr id="10" name="Picture 9" descr="train_to_prague.jpg"/>
          <p:cNvPicPr>
            <a:picLocks noChangeAspect="1"/>
          </p:cNvPicPr>
          <p:nvPr/>
        </p:nvPicPr>
        <p:blipFill>
          <a:blip r:embed="rId4"/>
          <a:srcRect t="6644" b="6644"/>
          <a:stretch>
            <a:fillRect/>
          </a:stretch>
        </p:blipFill>
        <p:spPr>
          <a:xfrm>
            <a:off x="8054644" y="1691640"/>
            <a:ext cx="3588410" cy="2249424"/>
          </a:xfrm>
          <a:prstGeom prst="rect">
            <a:avLst/>
          </a:prstGeom>
        </p:spPr>
      </p:pic>
      <p:sp>
        <p:nvSpPr>
          <p:cNvPr id="11" name="Rectangle 10"/>
          <p:cNvSpPr/>
          <p:nvPr/>
        </p:nvSpPr>
        <p:spPr>
          <a:xfrm>
            <a:off x="8054644" y="3300984"/>
            <a:ext cx="3588410" cy="640080"/>
          </a:xfrm>
          <a:prstGeom prst="rect">
            <a:avLst/>
          </a:prstGeom>
          <a:gradFill>
            <a:gsLst>
              <a:gs pos="0">
                <a:srgbClr val="000000">
                  <a:alpha val="0"/>
                </a:srgbClr>
              </a:gs>
              <a:gs pos="100000">
                <a:srgbClr val="000000">
                  <a:alpha val="68000"/>
                </a:srgb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9236" y="3557016"/>
            <a:ext cx="3314090" cy="320040"/>
          </a:xfrm>
          <a:prstGeom prst="rect">
            <a:avLst/>
          </a:prstGeom>
          <a:noFill/>
        </p:spPr>
        <p:txBody>
          <a:bodyPr wrap="square" anchor="t" lIns="0" rIns="0" tIns="0" bIns="0">
            <a:spAutoFit/>
          </a:bodyPr>
          <a:lstStyle/>
          <a:p>
            <a:pPr algn="l">
              <a:spcBef>
                <a:spcPts val="0"/>
              </a:spcBef>
            </a:pPr>
            <a:r>
              <a:rPr sz="1200" b="1">
                <a:solidFill>
                  <a:srgbClr val="FFFFFF"/>
                </a:solidFill>
                <a:latin typeface="Helvetica Neue"/>
              </a:rPr>
              <a:t>Příjezd vlaku</a:t>
            </a:r>
          </a:p>
        </p:txBody>
      </p:sp>
      <p:pic>
        <p:nvPicPr>
          <p:cNvPr id="13" name="Picture 12" descr="underpass_art.jpg"/>
          <p:cNvPicPr>
            <a:picLocks noChangeAspect="1"/>
          </p:cNvPicPr>
          <p:nvPr/>
        </p:nvPicPr>
        <p:blipFill>
          <a:blip r:embed="rId5"/>
          <a:srcRect t="8209" b="8209"/>
          <a:stretch>
            <a:fillRect/>
          </a:stretch>
        </p:blipFill>
        <p:spPr>
          <a:xfrm>
            <a:off x="548640" y="4105656"/>
            <a:ext cx="3588410" cy="2249424"/>
          </a:xfrm>
          <a:prstGeom prst="rect">
            <a:avLst/>
          </a:prstGeom>
        </p:spPr>
      </p:pic>
      <p:sp>
        <p:nvSpPr>
          <p:cNvPr id="14" name="Rectangle 13"/>
          <p:cNvSpPr/>
          <p:nvPr/>
        </p:nvSpPr>
        <p:spPr>
          <a:xfrm>
            <a:off x="548640" y="5715000"/>
            <a:ext cx="3588410" cy="640080"/>
          </a:xfrm>
          <a:prstGeom prst="rect">
            <a:avLst/>
          </a:prstGeom>
          <a:gradFill>
            <a:gsLst>
              <a:gs pos="0">
                <a:srgbClr val="000000">
                  <a:alpha val="0"/>
                </a:srgbClr>
              </a:gs>
              <a:gs pos="100000">
                <a:srgbClr val="000000">
                  <a:alpha val="68000"/>
                </a:srgb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5971032"/>
            <a:ext cx="3314090" cy="320040"/>
          </a:xfrm>
          <a:prstGeom prst="rect">
            <a:avLst/>
          </a:prstGeom>
          <a:noFill/>
        </p:spPr>
        <p:txBody>
          <a:bodyPr wrap="square" anchor="t" lIns="0" rIns="0" tIns="0" bIns="0">
            <a:spAutoFit/>
          </a:bodyPr>
          <a:lstStyle/>
          <a:p>
            <a:pPr algn="l">
              <a:spcBef>
                <a:spcPts val="0"/>
              </a:spcBef>
            </a:pPr>
            <a:r>
              <a:rPr sz="1200" b="1">
                <a:solidFill>
                  <a:srgbClr val="FFFFFF"/>
                </a:solidFill>
                <a:latin typeface="Helvetica Neue"/>
              </a:rPr>
              <a:t>Podchod</a:t>
            </a:r>
          </a:p>
        </p:txBody>
      </p:sp>
      <p:pic>
        <p:nvPicPr>
          <p:cNvPr id="16" name="Picture 15" descr="bus.jpg"/>
          <p:cNvPicPr>
            <a:picLocks noChangeAspect="1"/>
          </p:cNvPicPr>
          <p:nvPr/>
        </p:nvPicPr>
        <p:blipFill>
          <a:blip r:embed="rId6"/>
          <a:srcRect t="8209" b="8209"/>
          <a:stretch>
            <a:fillRect/>
          </a:stretch>
        </p:blipFill>
        <p:spPr>
          <a:xfrm>
            <a:off x="4301642" y="4105656"/>
            <a:ext cx="3588410" cy="2249424"/>
          </a:xfrm>
          <a:prstGeom prst="rect">
            <a:avLst/>
          </a:prstGeom>
        </p:spPr>
      </p:pic>
      <p:sp>
        <p:nvSpPr>
          <p:cNvPr id="17" name="Rectangle 16"/>
          <p:cNvSpPr/>
          <p:nvPr/>
        </p:nvSpPr>
        <p:spPr>
          <a:xfrm>
            <a:off x="4301642" y="5715000"/>
            <a:ext cx="3588410" cy="640080"/>
          </a:xfrm>
          <a:prstGeom prst="rect">
            <a:avLst/>
          </a:prstGeom>
          <a:gradFill>
            <a:gsLst>
              <a:gs pos="0">
                <a:srgbClr val="000000">
                  <a:alpha val="0"/>
                </a:srgbClr>
              </a:gs>
              <a:gs pos="100000">
                <a:srgbClr val="000000">
                  <a:alpha val="68000"/>
                </a:srgb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66234" y="5971032"/>
            <a:ext cx="3314090" cy="320040"/>
          </a:xfrm>
          <a:prstGeom prst="rect">
            <a:avLst/>
          </a:prstGeom>
          <a:noFill/>
        </p:spPr>
        <p:txBody>
          <a:bodyPr wrap="square" anchor="t" lIns="0" rIns="0" tIns="0" bIns="0">
            <a:spAutoFit/>
          </a:bodyPr>
          <a:lstStyle/>
          <a:p>
            <a:pPr algn="l">
              <a:spcBef>
                <a:spcPts val="0"/>
              </a:spcBef>
            </a:pPr>
            <a:r>
              <a:rPr sz="1200" b="1">
                <a:solidFill>
                  <a:srgbClr val="FFFFFF"/>
                </a:solidFill>
                <a:latin typeface="Helvetica Neue"/>
              </a:rPr>
              <a:t>Autobusová zastávka</a:t>
            </a:r>
          </a:p>
        </p:txBody>
      </p:sp>
      <p:pic>
        <p:nvPicPr>
          <p:cNvPr id="19" name="Picture 18" descr="platform_2014.jpg"/>
          <p:cNvPicPr>
            <a:picLocks noChangeAspect="1"/>
          </p:cNvPicPr>
          <p:nvPr/>
        </p:nvPicPr>
        <p:blipFill>
          <a:blip r:embed="rId7"/>
          <a:srcRect t="8209" b="8209"/>
          <a:stretch>
            <a:fillRect/>
          </a:stretch>
        </p:blipFill>
        <p:spPr>
          <a:xfrm>
            <a:off x="8054644" y="4105656"/>
            <a:ext cx="3588410" cy="2249424"/>
          </a:xfrm>
          <a:prstGeom prst="rect">
            <a:avLst/>
          </a:prstGeom>
        </p:spPr>
      </p:pic>
      <p:sp>
        <p:nvSpPr>
          <p:cNvPr id="20" name="Rectangle 19"/>
          <p:cNvSpPr/>
          <p:nvPr/>
        </p:nvSpPr>
        <p:spPr>
          <a:xfrm>
            <a:off x="8054644" y="5715000"/>
            <a:ext cx="3588410" cy="640080"/>
          </a:xfrm>
          <a:prstGeom prst="rect">
            <a:avLst/>
          </a:prstGeom>
          <a:gradFill>
            <a:gsLst>
              <a:gs pos="0">
                <a:srgbClr val="000000">
                  <a:alpha val="0"/>
                </a:srgbClr>
              </a:gs>
              <a:gs pos="100000">
                <a:srgbClr val="000000">
                  <a:alpha val="68000"/>
                </a:srgb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19236" y="5971032"/>
            <a:ext cx="3314090" cy="320040"/>
          </a:xfrm>
          <a:prstGeom prst="rect">
            <a:avLst/>
          </a:prstGeom>
          <a:noFill/>
        </p:spPr>
        <p:txBody>
          <a:bodyPr wrap="square" anchor="t" lIns="0" rIns="0" tIns="0" bIns="0">
            <a:spAutoFit/>
          </a:bodyPr>
          <a:lstStyle/>
          <a:p>
            <a:pPr algn="l">
              <a:spcBef>
                <a:spcPts val="0"/>
              </a:spcBef>
            </a:pPr>
            <a:r>
              <a:rPr sz="1200" b="1">
                <a:solidFill>
                  <a:srgbClr val="FFFFFF"/>
                </a:solidFill>
                <a:latin typeface="Helvetica Neue"/>
              </a:rPr>
              <a:t>Nástupiště a okolí</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48640"/>
            <a:ext cx="7315200" cy="365760"/>
          </a:xfrm>
          <a:prstGeom prst="rect">
            <a:avLst/>
          </a:prstGeom>
          <a:noFill/>
        </p:spPr>
        <p:txBody>
          <a:bodyPr wrap="square" anchor="t" lIns="0" rIns="0" tIns="0" bIns="0">
            <a:spAutoFit/>
          </a:bodyPr>
          <a:lstStyle/>
          <a:p>
            <a:pPr algn="l">
              <a:spcBef>
                <a:spcPts val="0"/>
              </a:spcBef>
            </a:pPr>
            <a:r>
              <a:rPr sz="1250" b="1" spc="220">
                <a:solidFill>
                  <a:srgbClr val="0071E3"/>
                </a:solidFill>
                <a:latin typeface="Helvetica Neue"/>
              </a:rPr>
              <a:t>SPOJENÍ</a:t>
            </a:r>
          </a:p>
        </p:txBody>
      </p:sp>
      <p:sp>
        <p:nvSpPr>
          <p:cNvPr id="3" name="TextBox 2"/>
          <p:cNvSpPr txBox="1"/>
          <p:nvPr/>
        </p:nvSpPr>
        <p:spPr>
          <a:xfrm>
            <a:off x="758952" y="914400"/>
            <a:ext cx="10058400" cy="822960"/>
          </a:xfrm>
          <a:prstGeom prst="rect">
            <a:avLst/>
          </a:prstGeom>
          <a:noFill/>
        </p:spPr>
        <p:txBody>
          <a:bodyPr wrap="square" anchor="t" lIns="0" rIns="0" tIns="0" bIns="0">
            <a:spAutoFit/>
          </a:bodyPr>
          <a:lstStyle/>
          <a:p>
            <a:pPr algn="l">
              <a:spcBef>
                <a:spcPts val="0"/>
              </a:spcBef>
            </a:pPr>
            <a:r>
              <a:rPr sz="3200" b="0">
                <a:solidFill>
                  <a:srgbClr val="1D1D1F"/>
                </a:solidFill>
                <a:latin typeface="Helvetica Neue"/>
              </a:rPr>
              <a:t>Přestupní terminál tří druhů dopravy</a:t>
            </a:r>
          </a:p>
        </p:txBody>
      </p:sp>
      <p:sp>
        <p:nvSpPr>
          <p:cNvPr id="4" name="Rounded Rectangle 3"/>
          <p:cNvSpPr/>
          <p:nvPr/>
        </p:nvSpPr>
        <p:spPr>
          <a:xfrm>
            <a:off x="868680" y="3154680"/>
            <a:ext cx="2468880" cy="1371600"/>
          </a:xfrm>
          <a:prstGeom prst="round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latin typeface="Helvetica Neue"/>
              </a:rPr>
              <a:t>Praha-Podbaba</a:t>
            </a:r>
          </a:p>
          <a:p>
            <a:pPr algn="ctr"/>
            <a:r>
              <a:rPr sz="1100">
                <a:solidFill>
                  <a:srgbClr val="C9C9CE"/>
                </a:solidFill>
                <a:latin typeface="Helvetica Neue"/>
              </a:rPr>
              <a:t>přestupní terminál</a:t>
            </a:r>
          </a:p>
        </p:txBody>
      </p:sp>
      <p:cxnSp>
        <p:nvCxnSpPr>
          <p:cNvPr id="5" name="Connector 4"/>
          <p:cNvCxnSpPr/>
          <p:nvPr/>
        </p:nvCxnSpPr>
        <p:spPr>
          <a:xfrm flipV="1">
            <a:off x="3337560" y="2834640"/>
            <a:ext cx="731520" cy="1005840"/>
          </a:xfrm>
          <a:prstGeom prst="bentConnector3">
            <a:avLst/>
          </a:prstGeom>
          <a:ln w="19050">
            <a:solidFill>
              <a:srgbClr val="D2D2D7"/>
            </a:solidFill>
          </a:ln>
          <a:effectLst/>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069080" y="2331720"/>
            <a:ext cx="82296" cy="1005840"/>
          </a:xfrm>
          <a:prstGeom prst="rect">
            <a:avLst/>
          </a:prstGeom>
          <a:solidFill>
            <a:srgbClr val="585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43400" y="2313432"/>
            <a:ext cx="2011680" cy="365760"/>
          </a:xfrm>
          <a:prstGeom prst="rect">
            <a:avLst/>
          </a:prstGeom>
          <a:noFill/>
        </p:spPr>
        <p:txBody>
          <a:bodyPr wrap="square" anchor="t" lIns="0" rIns="0" tIns="0" bIns="0">
            <a:spAutoFit/>
          </a:bodyPr>
          <a:lstStyle/>
          <a:p>
            <a:pPr algn="l">
              <a:spcBef>
                <a:spcPts val="0"/>
              </a:spcBef>
            </a:pPr>
            <a:r>
              <a:rPr sz="1300" b="1" spc="150">
                <a:solidFill>
                  <a:srgbClr val="5856D6"/>
                </a:solidFill>
                <a:latin typeface="Helvetica Neue"/>
              </a:rPr>
              <a:t>VLAK</a:t>
            </a:r>
          </a:p>
        </p:txBody>
      </p:sp>
      <p:sp>
        <p:nvSpPr>
          <p:cNvPr id="8" name="Rounded Rectangle 7"/>
          <p:cNvSpPr/>
          <p:nvPr/>
        </p:nvSpPr>
        <p:spPr>
          <a:xfrm>
            <a:off x="4343400" y="2624328"/>
            <a:ext cx="548640" cy="402336"/>
          </a:xfrm>
          <a:prstGeom prst="roundRect">
            <a:avLst/>
          </a:prstGeom>
          <a:solidFill>
            <a:srgbClr val="5856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Helvetica Neue"/>
              </a:rPr>
              <a:t>S4</a:t>
            </a:r>
          </a:p>
        </p:txBody>
      </p:sp>
      <p:sp>
        <p:nvSpPr>
          <p:cNvPr id="9" name="Rounded Rectangle 8"/>
          <p:cNvSpPr/>
          <p:nvPr/>
        </p:nvSpPr>
        <p:spPr>
          <a:xfrm>
            <a:off x="5038344" y="2624328"/>
            <a:ext cx="676656" cy="402336"/>
          </a:xfrm>
          <a:prstGeom prst="roundRect">
            <a:avLst/>
          </a:prstGeom>
          <a:solidFill>
            <a:srgbClr val="5856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Helvetica Neue"/>
              </a:rPr>
              <a:t>S41</a:t>
            </a:r>
          </a:p>
        </p:txBody>
      </p:sp>
      <p:sp>
        <p:nvSpPr>
          <p:cNvPr id="10" name="TextBox 9"/>
          <p:cNvSpPr txBox="1"/>
          <p:nvPr/>
        </p:nvSpPr>
        <p:spPr>
          <a:xfrm>
            <a:off x="5952744" y="2606040"/>
            <a:ext cx="4937760" cy="822960"/>
          </a:xfrm>
          <a:prstGeom prst="rect">
            <a:avLst/>
          </a:prstGeom>
          <a:noFill/>
        </p:spPr>
        <p:txBody>
          <a:bodyPr wrap="square" anchor="ctr" lIns="0" rIns="0" tIns="0" bIns="0">
            <a:spAutoFit/>
          </a:bodyPr>
          <a:lstStyle/>
          <a:p>
            <a:pPr algn="l">
              <a:lnSpc>
                <a:spcPct val="100000"/>
              </a:lnSpc>
              <a:spcBef>
                <a:spcPts val="0"/>
              </a:spcBef>
              <a:spcAft>
                <a:spcPts val="100"/>
              </a:spcAft>
            </a:pPr>
            <a:r>
              <a:rPr sz="1350" b="1">
                <a:solidFill>
                  <a:srgbClr val="1D1D1F"/>
                </a:solidFill>
                <a:latin typeface="Helvetica Neue"/>
              </a:rPr>
              <a:t>Praha Masarykovo n. · Kralupy n. Vlt. · Roztoky u Prahy</a:t>
            </a:r>
          </a:p>
          <a:p>
            <a:pPr algn="l">
              <a:lnSpc>
                <a:spcPct val="100000"/>
              </a:lnSpc>
              <a:spcBef>
                <a:spcPts val="0"/>
              </a:spcBef>
              <a:spcAft>
                <a:spcPts val="100"/>
              </a:spcAft>
            </a:pPr>
            <a:r>
              <a:rPr sz="1100" b="0">
                <a:solidFill>
                  <a:srgbClr val="6E6E73"/>
                </a:solidFill>
                <a:latin typeface="Helvetica Neue"/>
              </a:rPr>
              <a:t>trať 091 Praha – Děčín</a:t>
            </a:r>
          </a:p>
        </p:txBody>
      </p:sp>
      <p:cxnSp>
        <p:nvCxnSpPr>
          <p:cNvPr id="11" name="Connector 10"/>
          <p:cNvCxnSpPr/>
          <p:nvPr/>
        </p:nvCxnSpPr>
        <p:spPr>
          <a:xfrm>
            <a:off x="3337560" y="3840480"/>
            <a:ext cx="731520" cy="320040"/>
          </a:xfrm>
          <a:prstGeom prst="bentConnector3">
            <a:avLst/>
          </a:prstGeom>
          <a:ln w="19050">
            <a:solidFill>
              <a:srgbClr val="D2D2D7"/>
            </a:solidFill>
          </a:ln>
          <a:effectLst/>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4069080" y="3657600"/>
            <a:ext cx="82296" cy="1005840"/>
          </a:xfrm>
          <a:prstGeom prst="rect">
            <a:avLst/>
          </a:prstGeom>
          <a:solidFill>
            <a:srgbClr val="E03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43400" y="3639312"/>
            <a:ext cx="2011680" cy="365760"/>
          </a:xfrm>
          <a:prstGeom prst="rect">
            <a:avLst/>
          </a:prstGeom>
          <a:noFill/>
        </p:spPr>
        <p:txBody>
          <a:bodyPr wrap="square" anchor="t" lIns="0" rIns="0" tIns="0" bIns="0">
            <a:spAutoFit/>
          </a:bodyPr>
          <a:lstStyle/>
          <a:p>
            <a:pPr algn="l">
              <a:spcBef>
                <a:spcPts val="0"/>
              </a:spcBef>
            </a:pPr>
            <a:r>
              <a:rPr sz="1300" b="1" spc="150">
                <a:solidFill>
                  <a:srgbClr val="E0332E"/>
                </a:solidFill>
                <a:latin typeface="Helvetica Neue"/>
              </a:rPr>
              <a:t>TRAMVAJ</a:t>
            </a:r>
          </a:p>
        </p:txBody>
      </p:sp>
      <p:sp>
        <p:nvSpPr>
          <p:cNvPr id="14" name="Rounded Rectangle 13"/>
          <p:cNvSpPr/>
          <p:nvPr/>
        </p:nvSpPr>
        <p:spPr>
          <a:xfrm>
            <a:off x="4343400" y="3950208"/>
            <a:ext cx="420624" cy="402336"/>
          </a:xfrm>
          <a:prstGeom prst="roundRect">
            <a:avLst/>
          </a:prstGeom>
          <a:solidFill>
            <a:srgbClr val="E033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Helvetica Neue"/>
              </a:rPr>
              <a:t>8</a:t>
            </a:r>
          </a:p>
        </p:txBody>
      </p:sp>
      <p:sp>
        <p:nvSpPr>
          <p:cNvPr id="15" name="Rounded Rectangle 14"/>
          <p:cNvSpPr/>
          <p:nvPr/>
        </p:nvSpPr>
        <p:spPr>
          <a:xfrm>
            <a:off x="4910328" y="3950208"/>
            <a:ext cx="548640" cy="402336"/>
          </a:xfrm>
          <a:prstGeom prst="roundRect">
            <a:avLst/>
          </a:prstGeom>
          <a:solidFill>
            <a:srgbClr val="E033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Helvetica Neue"/>
              </a:rPr>
              <a:t>18</a:t>
            </a:r>
          </a:p>
        </p:txBody>
      </p:sp>
      <p:sp>
        <p:nvSpPr>
          <p:cNvPr id="16" name="TextBox 15"/>
          <p:cNvSpPr txBox="1"/>
          <p:nvPr/>
        </p:nvSpPr>
        <p:spPr>
          <a:xfrm>
            <a:off x="5696712" y="3931920"/>
            <a:ext cx="4937760" cy="822960"/>
          </a:xfrm>
          <a:prstGeom prst="rect">
            <a:avLst/>
          </a:prstGeom>
          <a:noFill/>
        </p:spPr>
        <p:txBody>
          <a:bodyPr wrap="square" anchor="ctr" lIns="0" rIns="0" tIns="0" bIns="0">
            <a:spAutoFit/>
          </a:bodyPr>
          <a:lstStyle/>
          <a:p>
            <a:pPr algn="l">
              <a:lnSpc>
                <a:spcPct val="100000"/>
              </a:lnSpc>
              <a:spcBef>
                <a:spcPts val="0"/>
              </a:spcBef>
              <a:spcAft>
                <a:spcPts val="100"/>
              </a:spcAft>
            </a:pPr>
            <a:r>
              <a:rPr sz="1350" b="1">
                <a:solidFill>
                  <a:srgbClr val="1D1D1F"/>
                </a:solidFill>
                <a:latin typeface="Helvetica Neue"/>
              </a:rPr>
              <a:t>směr Dejvická a centrum města</a:t>
            </a:r>
          </a:p>
          <a:p>
            <a:pPr algn="l">
              <a:lnSpc>
                <a:spcPct val="100000"/>
              </a:lnSpc>
              <a:spcBef>
                <a:spcPts val="0"/>
              </a:spcBef>
              <a:spcAft>
                <a:spcPts val="100"/>
              </a:spcAft>
            </a:pPr>
            <a:r>
              <a:rPr sz="1100" b="0">
                <a:solidFill>
                  <a:srgbClr val="6E6E73"/>
                </a:solidFill>
                <a:latin typeface="Helvetica Neue"/>
              </a:rPr>
              <a:t>smyčka Nádraží Podbaba</a:t>
            </a:r>
          </a:p>
        </p:txBody>
      </p:sp>
      <p:cxnSp>
        <p:nvCxnSpPr>
          <p:cNvPr id="17" name="Connector 16"/>
          <p:cNvCxnSpPr/>
          <p:nvPr/>
        </p:nvCxnSpPr>
        <p:spPr>
          <a:xfrm>
            <a:off x="3337560" y="3840480"/>
            <a:ext cx="731520" cy="1645920"/>
          </a:xfrm>
          <a:prstGeom prst="bentConnector3">
            <a:avLst/>
          </a:prstGeom>
          <a:ln w="19050">
            <a:solidFill>
              <a:srgbClr val="D2D2D7"/>
            </a:solidFill>
          </a:ln>
          <a:effectLst/>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069080" y="4983480"/>
            <a:ext cx="82296" cy="1005840"/>
          </a:xfrm>
          <a:prstGeom prst="rect">
            <a:avLst/>
          </a:prstGeom>
          <a:solidFill>
            <a:srgbClr val="008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43400" y="4965192"/>
            <a:ext cx="2011680" cy="365760"/>
          </a:xfrm>
          <a:prstGeom prst="rect">
            <a:avLst/>
          </a:prstGeom>
          <a:noFill/>
        </p:spPr>
        <p:txBody>
          <a:bodyPr wrap="square" anchor="t" lIns="0" rIns="0" tIns="0" bIns="0">
            <a:spAutoFit/>
          </a:bodyPr>
          <a:lstStyle/>
          <a:p>
            <a:pPr algn="l">
              <a:spcBef>
                <a:spcPts val="0"/>
              </a:spcBef>
            </a:pPr>
            <a:r>
              <a:rPr sz="1300" b="1" spc="150">
                <a:solidFill>
                  <a:srgbClr val="00843D"/>
                </a:solidFill>
                <a:latin typeface="Helvetica Neue"/>
              </a:rPr>
              <a:t>AUTOBUS</a:t>
            </a:r>
          </a:p>
        </p:txBody>
      </p:sp>
      <p:sp>
        <p:nvSpPr>
          <p:cNvPr id="20" name="Rounded Rectangle 19"/>
          <p:cNvSpPr/>
          <p:nvPr/>
        </p:nvSpPr>
        <p:spPr>
          <a:xfrm>
            <a:off x="4343400" y="5276088"/>
            <a:ext cx="676656" cy="402336"/>
          </a:xfrm>
          <a:prstGeom prst="roundRect">
            <a:avLst/>
          </a:prstGeom>
          <a:solidFill>
            <a:srgbClr val="008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Helvetica Neue"/>
              </a:rPr>
              <a:t>116</a:t>
            </a:r>
          </a:p>
        </p:txBody>
      </p:sp>
      <p:sp>
        <p:nvSpPr>
          <p:cNvPr id="21" name="Rounded Rectangle 20"/>
          <p:cNvSpPr/>
          <p:nvPr/>
        </p:nvSpPr>
        <p:spPr>
          <a:xfrm>
            <a:off x="5166360" y="5276088"/>
            <a:ext cx="676656" cy="402336"/>
          </a:xfrm>
          <a:prstGeom prst="roundRect">
            <a:avLst/>
          </a:prstGeom>
          <a:solidFill>
            <a:srgbClr val="008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Helvetica Neue"/>
              </a:rPr>
              <a:t>160</a:t>
            </a:r>
          </a:p>
        </p:txBody>
      </p:sp>
      <p:sp>
        <p:nvSpPr>
          <p:cNvPr id="22" name="Rounded Rectangle 21"/>
          <p:cNvSpPr/>
          <p:nvPr/>
        </p:nvSpPr>
        <p:spPr>
          <a:xfrm>
            <a:off x="5989320" y="5276088"/>
            <a:ext cx="676656" cy="402336"/>
          </a:xfrm>
          <a:prstGeom prst="roundRect">
            <a:avLst/>
          </a:prstGeom>
          <a:solidFill>
            <a:srgbClr val="008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Helvetica Neue"/>
              </a:rPr>
              <a:t>355</a:t>
            </a:r>
          </a:p>
        </p:txBody>
      </p:sp>
      <p:sp>
        <p:nvSpPr>
          <p:cNvPr id="23" name="TextBox 22"/>
          <p:cNvSpPr txBox="1"/>
          <p:nvPr/>
        </p:nvSpPr>
        <p:spPr>
          <a:xfrm>
            <a:off x="6903720" y="5257800"/>
            <a:ext cx="4937760" cy="822960"/>
          </a:xfrm>
          <a:prstGeom prst="rect">
            <a:avLst/>
          </a:prstGeom>
          <a:noFill/>
        </p:spPr>
        <p:txBody>
          <a:bodyPr wrap="square" anchor="ctr" lIns="0" rIns="0" tIns="0" bIns="0">
            <a:spAutoFit/>
          </a:bodyPr>
          <a:lstStyle/>
          <a:p>
            <a:pPr algn="l">
              <a:lnSpc>
                <a:spcPct val="100000"/>
              </a:lnSpc>
              <a:spcBef>
                <a:spcPts val="0"/>
              </a:spcBef>
              <a:spcAft>
                <a:spcPts val="100"/>
              </a:spcAft>
            </a:pPr>
            <a:r>
              <a:rPr sz="1350" b="1">
                <a:solidFill>
                  <a:srgbClr val="1D1D1F"/>
                </a:solidFill>
                <a:latin typeface="Helvetica Neue"/>
              </a:rPr>
              <a:t>obsluha Prahy 6 a okolí · noční 902 · 909 · 954</a:t>
            </a:r>
          </a:p>
          <a:p>
            <a:pPr algn="l">
              <a:lnSpc>
                <a:spcPct val="100000"/>
              </a:lnSpc>
              <a:spcBef>
                <a:spcPts val="0"/>
              </a:spcBef>
              <a:spcAft>
                <a:spcPts val="100"/>
              </a:spcAft>
            </a:pPr>
            <a:r>
              <a:rPr sz="1100" b="0">
                <a:solidFill>
                  <a:srgbClr val="6E6E73"/>
                </a:solidFill>
                <a:latin typeface="Helvetica Neue"/>
              </a:rPr>
              <a:t>zastávka Nádraží Podbaba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48640"/>
            <a:ext cx="7315200" cy="365760"/>
          </a:xfrm>
          <a:prstGeom prst="rect">
            <a:avLst/>
          </a:prstGeom>
          <a:noFill/>
        </p:spPr>
        <p:txBody>
          <a:bodyPr wrap="square" anchor="t" lIns="0" rIns="0" tIns="0" bIns="0">
            <a:spAutoFit/>
          </a:bodyPr>
          <a:lstStyle/>
          <a:p>
            <a:pPr algn="l">
              <a:spcBef>
                <a:spcPts val="0"/>
              </a:spcBef>
            </a:pPr>
            <a:r>
              <a:rPr sz="1250" b="1" spc="220">
                <a:solidFill>
                  <a:srgbClr val="0071E3"/>
                </a:solidFill>
                <a:latin typeface="Helvetica Neue"/>
              </a:rPr>
              <a:t>SPOJENÍ S CENTREM</a:t>
            </a:r>
          </a:p>
        </p:txBody>
      </p:sp>
      <p:sp>
        <p:nvSpPr>
          <p:cNvPr id="3" name="TextBox 2"/>
          <p:cNvSpPr txBox="1"/>
          <p:nvPr/>
        </p:nvSpPr>
        <p:spPr>
          <a:xfrm>
            <a:off x="758952" y="914400"/>
            <a:ext cx="10058400" cy="822960"/>
          </a:xfrm>
          <a:prstGeom prst="rect">
            <a:avLst/>
          </a:prstGeom>
          <a:noFill/>
        </p:spPr>
        <p:txBody>
          <a:bodyPr wrap="square" anchor="t" lIns="0" rIns="0" tIns="0" bIns="0">
            <a:spAutoFit/>
          </a:bodyPr>
          <a:lstStyle/>
          <a:p>
            <a:pPr algn="l">
              <a:spcBef>
                <a:spcPts val="0"/>
              </a:spcBef>
            </a:pPr>
            <a:r>
              <a:rPr sz="3400" b="0">
                <a:solidFill>
                  <a:srgbClr val="1D1D1F"/>
                </a:solidFill>
                <a:latin typeface="Helvetica Neue"/>
              </a:rPr>
              <a:t>Rychle do centra Prahy</a:t>
            </a:r>
          </a:p>
        </p:txBody>
      </p:sp>
      <p:sp>
        <p:nvSpPr>
          <p:cNvPr id="4" name="Rounded Rectangle 3"/>
          <p:cNvSpPr/>
          <p:nvPr/>
        </p:nvSpPr>
        <p:spPr>
          <a:xfrm>
            <a:off x="777240" y="2240280"/>
            <a:ext cx="10607040" cy="1691640"/>
          </a:xfrm>
          <a:prstGeom prst="round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2240280"/>
            <a:ext cx="128016" cy="1691640"/>
          </a:xfrm>
          <a:prstGeom prst="roundRect">
            <a:avLst/>
          </a:prstGeom>
          <a:solidFill>
            <a:srgbClr val="585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496312"/>
            <a:ext cx="2743200" cy="365760"/>
          </a:xfrm>
          <a:prstGeom prst="rect">
            <a:avLst/>
          </a:prstGeom>
          <a:noFill/>
        </p:spPr>
        <p:txBody>
          <a:bodyPr wrap="square" anchor="t" lIns="0" rIns="0" tIns="0" bIns="0">
            <a:spAutoFit/>
          </a:bodyPr>
          <a:lstStyle/>
          <a:p>
            <a:pPr algn="l">
              <a:spcBef>
                <a:spcPts val="0"/>
              </a:spcBef>
            </a:pPr>
            <a:r>
              <a:rPr sz="1300" b="1" spc="150">
                <a:solidFill>
                  <a:srgbClr val="5856D6"/>
                </a:solidFill>
                <a:latin typeface="Helvetica Neue"/>
              </a:rPr>
              <a:t>VLAKEM</a:t>
            </a:r>
          </a:p>
        </p:txBody>
      </p:sp>
      <p:cxnSp>
        <p:nvCxnSpPr>
          <p:cNvPr id="7" name="Connector 6"/>
          <p:cNvCxnSpPr/>
          <p:nvPr/>
        </p:nvCxnSpPr>
        <p:spPr>
          <a:xfrm>
            <a:off x="1280160" y="3291840"/>
            <a:ext cx="5303520" cy="0"/>
          </a:xfrm>
          <a:prstGeom prst="bentConnector3">
            <a:avLst/>
          </a:prstGeom>
          <a:ln w="38100">
            <a:solidFill>
              <a:srgbClr val="5856D6"/>
            </a:solidFill>
          </a:ln>
          <a:effectLst/>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188720" y="3200400"/>
            <a:ext cx="182880" cy="182880"/>
          </a:xfrm>
          <a:prstGeom prst="ellipse">
            <a:avLst/>
          </a:prstGeom>
          <a:solidFill>
            <a:srgbClr val="5856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Helvetica Neue"/>
              </a:rPr>
              <a:t/>
            </a:r>
          </a:p>
        </p:txBody>
      </p:sp>
      <p:sp>
        <p:nvSpPr>
          <p:cNvPr id="9" name="Oval 8"/>
          <p:cNvSpPr/>
          <p:nvPr/>
        </p:nvSpPr>
        <p:spPr>
          <a:xfrm>
            <a:off x="6492240" y="3200400"/>
            <a:ext cx="182880" cy="182880"/>
          </a:xfrm>
          <a:prstGeom prst="ellipse">
            <a:avLst/>
          </a:prstGeom>
          <a:solidFill>
            <a:srgbClr val="5856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Helvetica Neue"/>
              </a:rPr>
              <a:t/>
            </a:r>
          </a:p>
        </p:txBody>
      </p:sp>
      <p:sp>
        <p:nvSpPr>
          <p:cNvPr id="10" name="TextBox 9"/>
          <p:cNvSpPr txBox="1"/>
          <p:nvPr/>
        </p:nvSpPr>
        <p:spPr>
          <a:xfrm>
            <a:off x="1097280" y="2724912"/>
            <a:ext cx="2926080" cy="365760"/>
          </a:xfrm>
          <a:prstGeom prst="rect">
            <a:avLst/>
          </a:prstGeom>
          <a:noFill/>
        </p:spPr>
        <p:txBody>
          <a:bodyPr wrap="square" anchor="t" lIns="0" rIns="0" tIns="0" bIns="0">
            <a:spAutoFit/>
          </a:bodyPr>
          <a:lstStyle/>
          <a:p>
            <a:pPr algn="l">
              <a:spcBef>
                <a:spcPts val="0"/>
              </a:spcBef>
            </a:pPr>
            <a:r>
              <a:rPr sz="1400" b="1">
                <a:solidFill>
                  <a:srgbClr val="1D1D1F"/>
                </a:solidFill>
                <a:latin typeface="Helvetica Neue"/>
              </a:rPr>
              <a:t>Praha-Podbaba</a:t>
            </a:r>
          </a:p>
        </p:txBody>
      </p:sp>
      <p:sp>
        <p:nvSpPr>
          <p:cNvPr id="11" name="TextBox 10"/>
          <p:cNvSpPr txBox="1"/>
          <p:nvPr/>
        </p:nvSpPr>
        <p:spPr>
          <a:xfrm>
            <a:off x="4297680" y="2724912"/>
            <a:ext cx="2926080" cy="365760"/>
          </a:xfrm>
          <a:prstGeom prst="rect">
            <a:avLst/>
          </a:prstGeom>
          <a:noFill/>
        </p:spPr>
        <p:txBody>
          <a:bodyPr wrap="square" anchor="t" lIns="0" rIns="0" tIns="0" bIns="0">
            <a:spAutoFit/>
          </a:bodyPr>
          <a:lstStyle/>
          <a:p>
            <a:pPr algn="r">
              <a:spcBef>
                <a:spcPts val="0"/>
              </a:spcBef>
            </a:pPr>
            <a:r>
              <a:rPr sz="1400" b="1">
                <a:solidFill>
                  <a:srgbClr val="1D1D1F"/>
                </a:solidFill>
                <a:latin typeface="Helvetica Neue"/>
              </a:rPr>
              <a:t>Praha Masarykovo nádraží</a:t>
            </a:r>
          </a:p>
        </p:txBody>
      </p:sp>
      <p:sp>
        <p:nvSpPr>
          <p:cNvPr id="12" name="TextBox 11"/>
          <p:cNvSpPr txBox="1"/>
          <p:nvPr/>
        </p:nvSpPr>
        <p:spPr>
          <a:xfrm>
            <a:off x="1097280" y="3401568"/>
            <a:ext cx="5486400" cy="365760"/>
          </a:xfrm>
          <a:prstGeom prst="rect">
            <a:avLst/>
          </a:prstGeom>
          <a:noFill/>
        </p:spPr>
        <p:txBody>
          <a:bodyPr wrap="square" anchor="t" lIns="0" rIns="0" tIns="0" bIns="0">
            <a:spAutoFit/>
          </a:bodyPr>
          <a:lstStyle/>
          <a:p>
            <a:pPr algn="l">
              <a:spcBef>
                <a:spcPts val="0"/>
              </a:spcBef>
            </a:pPr>
            <a:r>
              <a:rPr sz="1150" b="0">
                <a:solidFill>
                  <a:srgbClr val="6E6E73"/>
                </a:solidFill>
                <a:latin typeface="Helvetica Neue"/>
              </a:rPr>
              <a:t>přímé spojení do centra (linka S4)</a:t>
            </a:r>
          </a:p>
        </p:txBody>
      </p:sp>
      <p:sp>
        <p:nvSpPr>
          <p:cNvPr id="13" name="TextBox 12"/>
          <p:cNvSpPr txBox="1"/>
          <p:nvPr/>
        </p:nvSpPr>
        <p:spPr>
          <a:xfrm>
            <a:off x="8229600" y="2651760"/>
            <a:ext cx="2926080" cy="914400"/>
          </a:xfrm>
          <a:prstGeom prst="rect">
            <a:avLst/>
          </a:prstGeom>
          <a:noFill/>
        </p:spPr>
        <p:txBody>
          <a:bodyPr wrap="square" anchor="ctr" lIns="0" rIns="0" tIns="0" bIns="0">
            <a:spAutoFit/>
          </a:bodyPr>
          <a:lstStyle/>
          <a:p>
            <a:pPr algn="r">
              <a:spcBef>
                <a:spcPts val="0"/>
              </a:spcBef>
            </a:pPr>
            <a:r>
              <a:rPr sz="3000" b="0">
                <a:solidFill>
                  <a:srgbClr val="5856D6"/>
                </a:solidFill>
                <a:latin typeface="Helvetica Neue"/>
              </a:rPr>
              <a:t>≈ 12 min</a:t>
            </a:r>
          </a:p>
        </p:txBody>
      </p:sp>
      <p:sp>
        <p:nvSpPr>
          <p:cNvPr id="14" name="Rounded Rectangle 13"/>
          <p:cNvSpPr/>
          <p:nvPr/>
        </p:nvSpPr>
        <p:spPr>
          <a:xfrm>
            <a:off x="777240" y="4206240"/>
            <a:ext cx="10607040" cy="1691640"/>
          </a:xfrm>
          <a:prstGeom prst="round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7240" y="4206240"/>
            <a:ext cx="128016" cy="1691640"/>
          </a:xfrm>
          <a:prstGeom prst="roundRect">
            <a:avLst/>
          </a:prstGeom>
          <a:solidFill>
            <a:srgbClr val="E03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4462272"/>
            <a:ext cx="2743200" cy="365760"/>
          </a:xfrm>
          <a:prstGeom prst="rect">
            <a:avLst/>
          </a:prstGeom>
          <a:noFill/>
        </p:spPr>
        <p:txBody>
          <a:bodyPr wrap="square" anchor="t" lIns="0" rIns="0" tIns="0" bIns="0">
            <a:spAutoFit/>
          </a:bodyPr>
          <a:lstStyle/>
          <a:p>
            <a:pPr algn="l">
              <a:spcBef>
                <a:spcPts val="0"/>
              </a:spcBef>
            </a:pPr>
            <a:r>
              <a:rPr sz="1300" b="1" spc="150">
                <a:solidFill>
                  <a:srgbClr val="E0332E"/>
                </a:solidFill>
                <a:latin typeface="Helvetica Neue"/>
              </a:rPr>
              <a:t>TRAMVAJÍ</a:t>
            </a:r>
          </a:p>
        </p:txBody>
      </p:sp>
      <p:cxnSp>
        <p:nvCxnSpPr>
          <p:cNvPr id="17" name="Connector 16"/>
          <p:cNvCxnSpPr/>
          <p:nvPr/>
        </p:nvCxnSpPr>
        <p:spPr>
          <a:xfrm>
            <a:off x="1280160" y="5257800"/>
            <a:ext cx="5303520" cy="0"/>
          </a:xfrm>
          <a:prstGeom prst="bentConnector3">
            <a:avLst/>
          </a:prstGeom>
          <a:ln w="38100">
            <a:solidFill>
              <a:srgbClr val="E0332E"/>
            </a:solidFill>
          </a:ln>
          <a:effectLst/>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1188720" y="5166360"/>
            <a:ext cx="182880" cy="182880"/>
          </a:xfrm>
          <a:prstGeom prst="ellipse">
            <a:avLst/>
          </a:prstGeom>
          <a:solidFill>
            <a:srgbClr val="E033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Helvetica Neue"/>
              </a:rPr>
              <a:t/>
            </a:r>
          </a:p>
        </p:txBody>
      </p:sp>
      <p:sp>
        <p:nvSpPr>
          <p:cNvPr id="19" name="Oval 18"/>
          <p:cNvSpPr/>
          <p:nvPr/>
        </p:nvSpPr>
        <p:spPr>
          <a:xfrm>
            <a:off x="6492240" y="5166360"/>
            <a:ext cx="182880" cy="182880"/>
          </a:xfrm>
          <a:prstGeom prst="ellipse">
            <a:avLst/>
          </a:prstGeom>
          <a:solidFill>
            <a:srgbClr val="E033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Helvetica Neue"/>
              </a:rPr>
              <a:t/>
            </a:r>
          </a:p>
        </p:txBody>
      </p:sp>
      <p:sp>
        <p:nvSpPr>
          <p:cNvPr id="20" name="TextBox 19"/>
          <p:cNvSpPr txBox="1"/>
          <p:nvPr/>
        </p:nvSpPr>
        <p:spPr>
          <a:xfrm>
            <a:off x="1097280" y="4690872"/>
            <a:ext cx="2926080" cy="365760"/>
          </a:xfrm>
          <a:prstGeom prst="rect">
            <a:avLst/>
          </a:prstGeom>
          <a:noFill/>
        </p:spPr>
        <p:txBody>
          <a:bodyPr wrap="square" anchor="t" lIns="0" rIns="0" tIns="0" bIns="0">
            <a:spAutoFit/>
          </a:bodyPr>
          <a:lstStyle/>
          <a:p>
            <a:pPr algn="l">
              <a:spcBef>
                <a:spcPts val="0"/>
              </a:spcBef>
            </a:pPr>
            <a:r>
              <a:rPr sz="1400" b="1">
                <a:solidFill>
                  <a:srgbClr val="1D1D1F"/>
                </a:solidFill>
                <a:latin typeface="Helvetica Neue"/>
              </a:rPr>
              <a:t>Praha-Podbaba</a:t>
            </a:r>
          </a:p>
        </p:txBody>
      </p:sp>
      <p:sp>
        <p:nvSpPr>
          <p:cNvPr id="21" name="TextBox 20"/>
          <p:cNvSpPr txBox="1"/>
          <p:nvPr/>
        </p:nvSpPr>
        <p:spPr>
          <a:xfrm>
            <a:off x="4297680" y="4690872"/>
            <a:ext cx="2926080" cy="365760"/>
          </a:xfrm>
          <a:prstGeom prst="rect">
            <a:avLst/>
          </a:prstGeom>
          <a:noFill/>
        </p:spPr>
        <p:txBody>
          <a:bodyPr wrap="square" anchor="t" lIns="0" rIns="0" tIns="0" bIns="0">
            <a:spAutoFit/>
          </a:bodyPr>
          <a:lstStyle/>
          <a:p>
            <a:pPr algn="r">
              <a:spcBef>
                <a:spcPts val="0"/>
              </a:spcBef>
            </a:pPr>
            <a:r>
              <a:rPr sz="1400" b="1">
                <a:solidFill>
                  <a:srgbClr val="1D1D1F"/>
                </a:solidFill>
                <a:latin typeface="Helvetica Neue"/>
              </a:rPr>
              <a:t>Dejvická  →  metro A</a:t>
            </a:r>
          </a:p>
        </p:txBody>
      </p:sp>
      <p:sp>
        <p:nvSpPr>
          <p:cNvPr id="22" name="TextBox 21"/>
          <p:cNvSpPr txBox="1"/>
          <p:nvPr/>
        </p:nvSpPr>
        <p:spPr>
          <a:xfrm>
            <a:off x="1097280" y="5367528"/>
            <a:ext cx="5486400" cy="365760"/>
          </a:xfrm>
          <a:prstGeom prst="rect">
            <a:avLst/>
          </a:prstGeom>
          <a:noFill/>
        </p:spPr>
        <p:txBody>
          <a:bodyPr wrap="square" anchor="t" lIns="0" rIns="0" tIns="0" bIns="0">
            <a:spAutoFit/>
          </a:bodyPr>
          <a:lstStyle/>
          <a:p>
            <a:pPr algn="l">
              <a:spcBef>
                <a:spcPts val="0"/>
              </a:spcBef>
            </a:pPr>
            <a:r>
              <a:rPr sz="1150" b="0">
                <a:solidFill>
                  <a:srgbClr val="6E6E73"/>
                </a:solidFill>
                <a:latin typeface="Helvetica Neue"/>
              </a:rPr>
              <a:t>linky 8 a 18, dále metrem do centra</a:t>
            </a:r>
          </a:p>
        </p:txBody>
      </p:sp>
      <p:sp>
        <p:nvSpPr>
          <p:cNvPr id="23" name="TextBox 22"/>
          <p:cNvSpPr txBox="1"/>
          <p:nvPr/>
        </p:nvSpPr>
        <p:spPr>
          <a:xfrm>
            <a:off x="8229600" y="4617720"/>
            <a:ext cx="2926080" cy="914400"/>
          </a:xfrm>
          <a:prstGeom prst="rect">
            <a:avLst/>
          </a:prstGeom>
          <a:noFill/>
        </p:spPr>
        <p:txBody>
          <a:bodyPr wrap="square" anchor="ctr" lIns="0" rIns="0" tIns="0" bIns="0">
            <a:spAutoFit/>
          </a:bodyPr>
          <a:lstStyle/>
          <a:p>
            <a:pPr algn="r">
              <a:spcBef>
                <a:spcPts val="0"/>
              </a:spcBef>
            </a:pPr>
            <a:r>
              <a:rPr sz="3000" b="0">
                <a:solidFill>
                  <a:srgbClr val="E0332E"/>
                </a:solidFill>
                <a:latin typeface="Helvetica Neue"/>
              </a:rPr>
              <a:t>≈ 8 min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ychlik.jpg"/>
          <p:cNvPicPr>
            <a:picLocks noChangeAspect="1"/>
          </p:cNvPicPr>
          <p:nvPr/>
        </p:nvPicPr>
        <p:blipFill>
          <a:blip r:embed="rId2"/>
          <a:srcRect t="11094" b="11094"/>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gradFill>
            <a:gsLst>
              <a:gs pos="0">
                <a:srgbClr val="000000">
                  <a:alpha val="30000"/>
                </a:srgbClr>
              </a:gs>
              <a:gs pos="100000">
                <a:srgbClr val="000000">
                  <a:alpha val="88000"/>
                </a:srgbClr>
              </a:gs>
            </a:gsLst>
            <a:lin ang="27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77240"/>
            <a:ext cx="7315200" cy="365760"/>
          </a:xfrm>
          <a:prstGeom prst="rect">
            <a:avLst/>
          </a:prstGeom>
          <a:noFill/>
        </p:spPr>
        <p:txBody>
          <a:bodyPr wrap="square" anchor="t" lIns="0" rIns="0" tIns="0" bIns="0">
            <a:spAutoFit/>
          </a:bodyPr>
          <a:lstStyle/>
          <a:p>
            <a:pPr algn="l">
              <a:spcBef>
                <a:spcPts val="0"/>
              </a:spcBef>
            </a:pPr>
            <a:r>
              <a:rPr sz="1250" b="1" spc="220">
                <a:solidFill>
                  <a:srgbClr val="8FC2FF"/>
                </a:solidFill>
                <a:latin typeface="Helvetica Neue"/>
              </a:rPr>
              <a:t>SHRNUTÍ</a:t>
            </a:r>
          </a:p>
        </p:txBody>
      </p:sp>
      <p:sp>
        <p:nvSpPr>
          <p:cNvPr id="5" name="TextBox 4"/>
          <p:cNvSpPr txBox="1"/>
          <p:nvPr/>
        </p:nvSpPr>
        <p:spPr>
          <a:xfrm>
            <a:off x="749808" y="1143000"/>
            <a:ext cx="10058400" cy="914400"/>
          </a:xfrm>
          <a:prstGeom prst="rect">
            <a:avLst/>
          </a:prstGeom>
          <a:noFill/>
        </p:spPr>
        <p:txBody>
          <a:bodyPr wrap="square" anchor="t" lIns="0" rIns="0" tIns="0" bIns="0">
            <a:spAutoFit/>
          </a:bodyPr>
          <a:lstStyle/>
          <a:p>
            <a:pPr algn="l">
              <a:spcBef>
                <a:spcPts val="0"/>
              </a:spcBef>
            </a:pPr>
            <a:r>
              <a:rPr sz="4400" b="0">
                <a:solidFill>
                  <a:srgbClr val="FFFFFF"/>
                </a:solidFill>
                <a:latin typeface="Helvetica Neue"/>
              </a:rPr>
              <a:t>Moderní brána Prahy 6</a:t>
            </a:r>
          </a:p>
        </p:txBody>
      </p:sp>
      <p:sp>
        <p:nvSpPr>
          <p:cNvPr id="6" name="Oval 5"/>
          <p:cNvSpPr/>
          <p:nvPr/>
        </p:nvSpPr>
        <p:spPr>
          <a:xfrm>
            <a:off x="822960" y="2825496"/>
            <a:ext cx="310896" cy="310896"/>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825496"/>
            <a:ext cx="310896" cy="310896"/>
          </a:xfrm>
          <a:prstGeom prst="rect">
            <a:avLst/>
          </a:prstGeom>
          <a:noFill/>
        </p:spPr>
        <p:txBody>
          <a:bodyPr wrap="square" anchor="ctr" lIns="0" rIns="0" tIns="0" bIns="0">
            <a:spAutoFit/>
          </a:bodyPr>
          <a:lstStyle/>
          <a:p>
            <a:pPr algn="ctr">
              <a:spcBef>
                <a:spcPts val="0"/>
              </a:spcBef>
            </a:pPr>
            <a:r>
              <a:rPr sz="1300" b="1">
                <a:solidFill>
                  <a:srgbClr val="FFFFFF"/>
                </a:solidFill>
                <a:latin typeface="Helvetica Neue"/>
              </a:rPr>
              <a:t>✓</a:t>
            </a:r>
          </a:p>
        </p:txBody>
      </p:sp>
      <p:sp>
        <p:nvSpPr>
          <p:cNvPr id="8" name="TextBox 7"/>
          <p:cNvSpPr txBox="1"/>
          <p:nvPr/>
        </p:nvSpPr>
        <p:spPr>
          <a:xfrm>
            <a:off x="1325880" y="2743200"/>
            <a:ext cx="9601200" cy="548640"/>
          </a:xfrm>
          <a:prstGeom prst="rect">
            <a:avLst/>
          </a:prstGeom>
          <a:noFill/>
        </p:spPr>
        <p:txBody>
          <a:bodyPr wrap="square" anchor="ctr" lIns="0" rIns="0" tIns="0" bIns="0">
            <a:spAutoFit/>
          </a:bodyPr>
          <a:lstStyle/>
          <a:p>
            <a:pPr algn="l">
              <a:spcBef>
                <a:spcPts val="0"/>
              </a:spcBef>
            </a:pPr>
            <a:r>
              <a:rPr sz="1900" b="0">
                <a:solidFill>
                  <a:srgbClr val="FFFFFF"/>
                </a:solidFill>
                <a:latin typeface="Helvetica Neue"/>
              </a:rPr>
              <a:t>Moderní železniční stanice otevřená v roce 2014</a:t>
            </a:r>
          </a:p>
        </p:txBody>
      </p:sp>
      <p:sp>
        <p:nvSpPr>
          <p:cNvPr id="9" name="Oval 8"/>
          <p:cNvSpPr/>
          <p:nvPr/>
        </p:nvSpPr>
        <p:spPr>
          <a:xfrm>
            <a:off x="822960" y="3575304"/>
            <a:ext cx="310896" cy="310896"/>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575304"/>
            <a:ext cx="310896" cy="310896"/>
          </a:xfrm>
          <a:prstGeom prst="rect">
            <a:avLst/>
          </a:prstGeom>
          <a:noFill/>
        </p:spPr>
        <p:txBody>
          <a:bodyPr wrap="square" anchor="ctr" lIns="0" rIns="0" tIns="0" bIns="0">
            <a:spAutoFit/>
          </a:bodyPr>
          <a:lstStyle/>
          <a:p>
            <a:pPr algn="ctr">
              <a:spcBef>
                <a:spcPts val="0"/>
              </a:spcBef>
            </a:pPr>
            <a:r>
              <a:rPr sz="1300" b="1">
                <a:solidFill>
                  <a:srgbClr val="FFFFFF"/>
                </a:solidFill>
                <a:latin typeface="Helvetica Neue"/>
              </a:rPr>
              <a:t>✓</a:t>
            </a:r>
          </a:p>
        </p:txBody>
      </p:sp>
      <p:sp>
        <p:nvSpPr>
          <p:cNvPr id="11" name="TextBox 10"/>
          <p:cNvSpPr txBox="1"/>
          <p:nvPr/>
        </p:nvSpPr>
        <p:spPr>
          <a:xfrm>
            <a:off x="1325880" y="3493008"/>
            <a:ext cx="9601200" cy="548640"/>
          </a:xfrm>
          <a:prstGeom prst="rect">
            <a:avLst/>
          </a:prstGeom>
          <a:noFill/>
        </p:spPr>
        <p:txBody>
          <a:bodyPr wrap="square" anchor="ctr" lIns="0" rIns="0" tIns="0" bIns="0">
            <a:spAutoFit/>
          </a:bodyPr>
          <a:lstStyle/>
          <a:p>
            <a:pPr algn="l">
              <a:spcBef>
                <a:spcPts val="0"/>
              </a:spcBef>
            </a:pPr>
            <a:r>
              <a:rPr sz="1900" b="0">
                <a:solidFill>
                  <a:srgbClr val="FFFFFF"/>
                </a:solidFill>
                <a:latin typeface="Helvetica Neue"/>
              </a:rPr>
              <a:t>Důležitý přestupní uzel vlak – tramvaj – autobus</a:t>
            </a:r>
          </a:p>
        </p:txBody>
      </p:sp>
      <p:sp>
        <p:nvSpPr>
          <p:cNvPr id="12" name="Oval 11"/>
          <p:cNvSpPr/>
          <p:nvPr/>
        </p:nvSpPr>
        <p:spPr>
          <a:xfrm>
            <a:off x="822960" y="4325112"/>
            <a:ext cx="310896" cy="310896"/>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325112"/>
            <a:ext cx="310896" cy="310896"/>
          </a:xfrm>
          <a:prstGeom prst="rect">
            <a:avLst/>
          </a:prstGeom>
          <a:noFill/>
        </p:spPr>
        <p:txBody>
          <a:bodyPr wrap="square" anchor="ctr" lIns="0" rIns="0" tIns="0" bIns="0">
            <a:spAutoFit/>
          </a:bodyPr>
          <a:lstStyle/>
          <a:p>
            <a:pPr algn="ctr">
              <a:spcBef>
                <a:spcPts val="0"/>
              </a:spcBef>
            </a:pPr>
            <a:r>
              <a:rPr sz="1300" b="1">
                <a:solidFill>
                  <a:srgbClr val="FFFFFF"/>
                </a:solidFill>
                <a:latin typeface="Helvetica Neue"/>
              </a:rPr>
              <a:t>✓</a:t>
            </a:r>
          </a:p>
        </p:txBody>
      </p:sp>
      <p:sp>
        <p:nvSpPr>
          <p:cNvPr id="14" name="TextBox 13"/>
          <p:cNvSpPr txBox="1"/>
          <p:nvPr/>
        </p:nvSpPr>
        <p:spPr>
          <a:xfrm>
            <a:off x="1325880" y="4242816"/>
            <a:ext cx="9601200" cy="548640"/>
          </a:xfrm>
          <a:prstGeom prst="rect">
            <a:avLst/>
          </a:prstGeom>
          <a:noFill/>
        </p:spPr>
        <p:txBody>
          <a:bodyPr wrap="square" anchor="ctr" lIns="0" rIns="0" tIns="0" bIns="0">
            <a:spAutoFit/>
          </a:bodyPr>
          <a:lstStyle/>
          <a:p>
            <a:pPr algn="l">
              <a:spcBef>
                <a:spcPts val="0"/>
              </a:spcBef>
            </a:pPr>
            <a:r>
              <a:rPr sz="1900" b="0">
                <a:solidFill>
                  <a:srgbClr val="FFFFFF"/>
                </a:solidFill>
                <a:latin typeface="Helvetica Neue"/>
              </a:rPr>
              <a:t>Rychlé a pohodlné spojení s centrem Prahy</a:t>
            </a:r>
          </a:p>
        </p:txBody>
      </p:sp>
      <p:sp>
        <p:nvSpPr>
          <p:cNvPr id="15" name="Oval 14"/>
          <p:cNvSpPr/>
          <p:nvPr/>
        </p:nvSpPr>
        <p:spPr>
          <a:xfrm>
            <a:off x="822960" y="5074920"/>
            <a:ext cx="310896" cy="310896"/>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5074920"/>
            <a:ext cx="310896" cy="310896"/>
          </a:xfrm>
          <a:prstGeom prst="rect">
            <a:avLst/>
          </a:prstGeom>
          <a:noFill/>
        </p:spPr>
        <p:txBody>
          <a:bodyPr wrap="square" anchor="ctr" lIns="0" rIns="0" tIns="0" bIns="0">
            <a:spAutoFit/>
          </a:bodyPr>
          <a:lstStyle/>
          <a:p>
            <a:pPr algn="ctr">
              <a:spcBef>
                <a:spcPts val="0"/>
              </a:spcBef>
            </a:pPr>
            <a:r>
              <a:rPr sz="1300" b="1">
                <a:solidFill>
                  <a:srgbClr val="FFFFFF"/>
                </a:solidFill>
                <a:latin typeface="Helvetica Neue"/>
              </a:rPr>
              <a:t>✓</a:t>
            </a:r>
          </a:p>
        </p:txBody>
      </p:sp>
      <p:sp>
        <p:nvSpPr>
          <p:cNvPr id="17" name="TextBox 16"/>
          <p:cNvSpPr txBox="1"/>
          <p:nvPr/>
        </p:nvSpPr>
        <p:spPr>
          <a:xfrm>
            <a:off x="1325880" y="4992624"/>
            <a:ext cx="9601200" cy="548640"/>
          </a:xfrm>
          <a:prstGeom prst="rect">
            <a:avLst/>
          </a:prstGeom>
          <a:noFill/>
        </p:spPr>
        <p:txBody>
          <a:bodyPr wrap="square" anchor="ctr" lIns="0" rIns="0" tIns="0" bIns="0">
            <a:spAutoFit/>
          </a:bodyPr>
          <a:lstStyle/>
          <a:p>
            <a:pPr algn="l">
              <a:spcBef>
                <a:spcPts val="0"/>
              </a:spcBef>
            </a:pPr>
            <a:r>
              <a:rPr sz="1900" b="0">
                <a:solidFill>
                  <a:srgbClr val="FFFFFF"/>
                </a:solidFill>
                <a:latin typeface="Helvetica Neue"/>
              </a:rPr>
              <a:t>Příklad moderní pražské dopravní infrastruktury</a:t>
            </a:r>
          </a:p>
        </p:txBody>
      </p:sp>
      <p:sp>
        <p:nvSpPr>
          <p:cNvPr id="18" name="TextBox 17"/>
          <p:cNvSpPr txBox="1"/>
          <p:nvPr/>
        </p:nvSpPr>
        <p:spPr>
          <a:xfrm>
            <a:off x="0" y="6547104"/>
            <a:ext cx="11963095" cy="274320"/>
          </a:xfrm>
          <a:prstGeom prst="rect">
            <a:avLst/>
          </a:prstGeom>
          <a:noFill/>
        </p:spPr>
        <p:txBody>
          <a:bodyPr wrap="square" anchor="t" lIns="0" rIns="0" tIns="0" bIns="0">
            <a:spAutoFit/>
          </a:bodyPr>
          <a:lstStyle/>
          <a:p>
            <a:pPr algn="r">
              <a:spcBef>
                <a:spcPts val="0"/>
              </a:spcBef>
            </a:pPr>
            <a:r>
              <a:rPr sz="700" b="0">
                <a:solidFill>
                  <a:srgbClr val="C9C9CE"/>
                </a:solidFill>
                <a:latin typeface="Helvetica Neue"/>
              </a:rPr>
              <a:t>Foto: ŠJů · CC BY 4.0 · Wikimedia Commons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