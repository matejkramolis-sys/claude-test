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and welcome. Today I want to show you one of the most unusual buildings in New York City. It is called The Vessel. As you can see in this big photo, it does not look like a normal building. It has no rooms and no offices. It is made only of stairs that you can climb. It looks a little bit like a giant honeycomb or a basket made of copper. In the next few minutes, I will tell you where it is, who built it, why it is so special, and why it became famous all over the world. Let us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can you find The Vessel? It stands in a part of New York called Hudson Yards. This is on the west side of Manhattan, very close to the Hudson River. You can see the city skyline in the top photo, and a map below it. The location is important. A few years ago, this area was old and mostly empty, with railway tracks. Then the city built a huge new neighbourhood with tall glass towers, shops, and restaurants. The Vessel was placed right in the middle, like a piece of art. It is also next to the High Line, a famous park built on an old train line, so many tourists walk past it every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what exactly is The Vessel? The idea is simple but strange. It is a big art object that you can walk inside and climb. It is about 46 metres tall, which is like a 16-floor building. It opened in March 2019. Inside, there are 154 flights of stairs, around 2,500 steps, and 80 landings where you can stop and rest. The British designer Thomas Heatherwick made it. He wanted to build something that was not a normal tower with offices. Instead, the only purpose of The Vessel is to be enjoyed. People climb up, take photos, and look at the city and the river. So it is really art that you can use with your feet, not just look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closer at the design, because this is the most exciting part. Why does it look so different from normal buildings? Most buildings are boxes with walls and windows. The Vessel has no walls at all. It is open, like a basket. Its shape is wider at the top and smaller at the bottom. From far away it looks like a giant honeycomb or a beehive. The 154 staircases connect to each other, so you can walk up in many different ways and always find new views. The metal is painted a warm copper colour, so when the sun shines, the whole structure looks golden and bright. Because of this special shape, people often say it looks like a piece of modern art, not a building.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some fun facts that surprise most people. First, The Vessel was very expensive. It cost about 200 million dollars. That is a lot of money for something with no rooms inside! Second, it is very heavy. It uses around 600 tonnes of steel. Third, the pieces were not built in New York. They were made in Italy and then sent by ship across the ocean, and workers put them together like a giant model kit. And fourth, when it first opened, you did not have to pay anything to climb it. Later they added a small ticket. These facts show how much work and money people put into one piece of public 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 so many people come here? There are three main reasons. The first reason is the views. When you climb to the top, you can see the tall buildings of New York and the Hudson River. The second reason is photography. The Vessel is full of repeating stairs and lines, so photos taken here look amazing. It quickly became one of the most photographed places in the city, and you can see it in thousands of pictures on social media. The third reason is simply that it is famous. People want to see it because everyone is talking about it. In its first years, millions of tourists came to climb it and take a selfie.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everything about The Vessel is happy. It also had serious problems. Sadly, a number of people died here after falling from the high levels. Because of this, the owners decided to close The Vessel in 2021, so no one could go inside. Many people said the design was not safe enough. The side walls and railings were quite low, and that made the high floors dangerous. There was also a lot of discussion in the news. Some people asked if it was right to build something so beautiful but not safe. This was a difficult and sad time for the building. I will keep this part short, but it is important to understand the full 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at The Vessel today. After being closed for about three years, it reopened to the public in October 2024. But this time it is different. The owners added new safety features. They put strong steel nets, from the floor to the ceiling, on almost every level. These nets are hard to cut or climb, so visitors are much safer now. You can change a little of the view through the mesh, but most people think safety is more important. The lower levels are open again, and the very top floor stays closed. So today, people can once again walk up The Vessel, take photos, and enjoy the city — but in a safer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share my own opinion. For me, The Vessel is a building with two faces. On the good side, I think it is beautiful and very original. There is nothing else like it in the world, and the views and photos from the top are amazing. I also like that it started as free public art that everyone could enjoy. But on the other side, there are real problems. The safety issues were very serious and very sad, and we must not forget that. It was also extremely expensive, and now the new safety nets change the open feeling of the design. So, in my opinion, The Vessel is a brave and amazing idea, but it shows that beautiful design must always be safe first. What do you think?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of my presentation. Thank you very much for listening. I hope you now know more about The Vessel in New York City — what it is, why it is special, and the problems it had. If you ever visit New York, go and see it for yourself. Do you have any questions? I am happy to answer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tle.jpg"/>
          <p:cNvPicPr>
            <a:picLocks noChangeAspect="1"/>
          </p:cNvPicPr>
          <p:nvPr/>
        </p:nvPicPr>
        <p:blipFill>
          <a:blip r:embed="rId2"/>
          <a:srcRect t="18691" b="18691"/>
          <a:stretch>
            <a:fillRect/>
          </a:stretch>
        </p:blipFill>
        <p:spPr>
          <a:xfrm>
            <a:off x="0" y="0"/>
            <a:ext cx="12191695" cy="6858000"/>
          </a:xfrm>
          <a:prstGeom prst="rect">
            <a:avLst/>
          </a:prstGeom>
          <a:effectLst/>
        </p:spPr>
      </p:pic>
      <p:sp>
        <p:nvSpPr>
          <p:cNvPr id="4" name="Rectangle 3"/>
          <p:cNvSpPr/>
          <p:nvPr/>
        </p:nvSpPr>
        <p:spPr>
          <a:xfrm>
            <a:off x="0" y="0"/>
            <a:ext cx="12191695" cy="6858000"/>
          </a:xfrm>
          <a:prstGeom prst="rect">
            <a:avLst/>
          </a:prstGeom>
          <a:solidFill>
            <a:srgbClr val="000000">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931920"/>
            <a:ext cx="12191695" cy="2926080"/>
          </a:xfrm>
          <a:prstGeom prst="rect">
            <a:avLst/>
          </a:prstGeom>
          <a:solidFill>
            <a:srgbClr val="000000">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160520"/>
            <a:ext cx="10515600" cy="2194560"/>
          </a:xfrm>
          <a:prstGeom prst="rect">
            <a:avLst/>
          </a:prstGeom>
          <a:noFill/>
        </p:spPr>
        <p:txBody>
          <a:bodyPr wrap="square" anchor="t" lIns="0" rIns="0" tIns="0" bIns="0">
            <a:spAutoFit/>
          </a:bodyPr>
          <a:lstStyle/>
          <a:p>
            <a:pPr algn="l">
              <a:spcBef>
                <a:spcPts val="0"/>
              </a:spcBef>
              <a:spcAft>
                <a:spcPts val="200"/>
              </a:spcAft>
            </a:pPr>
            <a:r>
              <a:rPr sz="9000" b="1" spc="100">
                <a:solidFill>
                  <a:srgbClr val="FFFFFF"/>
                </a:solidFill>
                <a:latin typeface="Helvetica Neue"/>
              </a:rPr>
              <a:t>THE VESSEL</a:t>
            </a:r>
          </a:p>
          <a:p>
            <a:pPr algn="l">
              <a:spcBef>
                <a:spcPts val="0"/>
              </a:spcBef>
              <a:spcAft>
                <a:spcPts val="0"/>
              </a:spcAft>
            </a:pPr>
            <a:r>
              <a:rPr sz="3400" b="0">
                <a:solidFill>
                  <a:srgbClr val="EAEAEC"/>
                </a:solidFill>
                <a:latin typeface="Helvetica Neue"/>
              </a:rPr>
              <a:t>New York City</a:t>
            </a:r>
          </a:p>
        </p:txBody>
      </p:sp>
      <p:sp>
        <p:nvSpPr>
          <p:cNvPr id="7" name="TextBox 6"/>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ECECEE"/>
                </a:solidFill>
                <a:latin typeface="Helvetica Neue"/>
              </a:rPr>
              <a:t>Photo: Gunnar Klack / Wikimedia Commons, CC BY-SA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4023360" cy="502920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LOCATION</a:t>
            </a:r>
          </a:p>
          <a:p>
            <a:pPr algn="l">
              <a:lnSpc>
                <a:spcPct val="100000"/>
              </a:lnSpc>
              <a:spcBef>
                <a:spcPts val="0"/>
              </a:spcBef>
              <a:spcAft>
                <a:spcPts val="2200"/>
              </a:spcAft>
            </a:pPr>
            <a:r>
              <a:rPr sz="4600" b="1">
                <a:solidFill>
                  <a:srgbClr val="1D1D1F"/>
                </a:solidFill>
                <a:latin typeface="Helvetica Neue"/>
              </a:rPr>
              <a:t>Where Is It?</a:t>
            </a:r>
          </a:p>
          <a:p>
            <a:pPr algn="l">
              <a:spcBef>
                <a:spcPts val="0"/>
              </a:spcBef>
              <a:spcAft>
                <a:spcPts val="400"/>
              </a:spcAft>
            </a:pPr>
            <a:r>
              <a:rPr sz="2600" b="1">
                <a:solidFill>
                  <a:srgbClr val="1D1D1F"/>
                </a:solidFill>
                <a:latin typeface="Helvetica Neue"/>
              </a:rPr>
              <a:t>Hudson Yards</a:t>
            </a:r>
          </a:p>
          <a:p>
            <a:pPr algn="l">
              <a:lnSpc>
                <a:spcPct val="110000"/>
              </a:lnSpc>
              <a:spcBef>
                <a:spcPts val="0"/>
              </a:spcBef>
              <a:spcAft>
                <a:spcPts val="1800"/>
              </a:spcAft>
            </a:pPr>
            <a:r>
              <a:rPr sz="2100" b="0">
                <a:solidFill>
                  <a:srgbClr val="6E6E73"/>
                </a:solidFill>
                <a:latin typeface="Helvetica Neue"/>
              </a:rPr>
              <a:t>West side of Manhattan, New York City</a:t>
            </a:r>
          </a:p>
          <a:p>
            <a:pPr algn="l">
              <a:lnSpc>
                <a:spcPct val="120000"/>
              </a:lnSpc>
              <a:spcBef>
                <a:spcPts val="0"/>
              </a:spcBef>
              <a:spcAft>
                <a:spcPts val="0"/>
              </a:spcAft>
            </a:pPr>
            <a:r>
              <a:rPr sz="2100" b="0">
                <a:solidFill>
                  <a:srgbClr val="6E6E73"/>
                </a:solidFill>
                <a:latin typeface="Helvetica Neue"/>
              </a:rPr>
              <a:t>Next to the Hudson River, close to the High Line park.</a:t>
            </a:r>
          </a:p>
        </p:txBody>
      </p:sp>
      <p:pic>
        <p:nvPicPr>
          <p:cNvPr id="4" name="Picture 3" descr="context.jpg"/>
          <p:cNvPicPr>
            <a:picLocks noChangeAspect="1"/>
          </p:cNvPicPr>
          <p:nvPr/>
        </p:nvPicPr>
        <p:blipFill>
          <a:blip r:embed="rId2"/>
          <a:srcRect t="8993" b="8993"/>
          <a:stretch>
            <a:fillRect/>
          </a:stretch>
        </p:blipFill>
        <p:spPr>
          <a:xfrm>
            <a:off x="5212080" y="548640"/>
            <a:ext cx="6522415" cy="3566160"/>
          </a:xfrm>
          <a:prstGeom prst="rect">
            <a:avLst/>
          </a:prstGeom>
          <a:effectLst/>
        </p:spPr>
      </p:pic>
      <p:pic>
        <p:nvPicPr>
          <p:cNvPr id="5" name="Picture 4" descr="map.png"/>
          <p:cNvPicPr>
            <a:picLocks noChangeAspect="1"/>
          </p:cNvPicPr>
          <p:nvPr/>
        </p:nvPicPr>
        <p:blipFill>
          <a:blip r:embed="rId3"/>
          <a:srcRect t="29847" b="29847"/>
          <a:stretch>
            <a:fillRect/>
          </a:stretch>
        </p:blipFill>
        <p:spPr>
          <a:xfrm>
            <a:off x="5212080" y="4297680"/>
            <a:ext cx="6522415" cy="2103120"/>
          </a:xfrm>
          <a:prstGeom prst="rect">
            <a:avLst/>
          </a:prstGeom>
          <a:effectLst/>
        </p:spPr>
      </p:pic>
      <p:sp>
        <p:nvSpPr>
          <p:cNvPr id="6" name="TextBox 5"/>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Photos: dconvertini / Wikimedia, CC BY-SA 2.0  ·  Map © OpenStreetMap contributors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acts.jpg"/>
          <p:cNvPicPr>
            <a:picLocks noChangeAspect="1"/>
          </p:cNvPicPr>
          <p:nvPr/>
        </p:nvPicPr>
        <p:blipFill>
          <a:blip r:embed="rId2"/>
          <a:srcRect l="21853" r="21853"/>
          <a:stretch>
            <a:fillRect/>
          </a:stretch>
        </p:blipFill>
        <p:spPr>
          <a:xfrm>
            <a:off x="6400800" y="0"/>
            <a:ext cx="5790895" cy="6858000"/>
          </a:xfrm>
          <a:prstGeom prst="rect">
            <a:avLst/>
          </a:prstGeom>
          <a:effectLst/>
        </p:spPr>
      </p:pic>
      <p:sp>
        <p:nvSpPr>
          <p:cNvPr id="4" name="TextBox 3"/>
          <p:cNvSpPr txBox="1"/>
          <p:nvPr/>
        </p:nvSpPr>
        <p:spPr>
          <a:xfrm>
            <a:off x="822960" y="640080"/>
            <a:ext cx="5120640" cy="548640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BASIC FACTS</a:t>
            </a:r>
          </a:p>
          <a:p>
            <a:pPr algn="l">
              <a:lnSpc>
                <a:spcPct val="98000"/>
              </a:lnSpc>
              <a:spcBef>
                <a:spcPts val="0"/>
              </a:spcBef>
              <a:spcAft>
                <a:spcPts val="1600"/>
              </a:spcAft>
            </a:pPr>
            <a:r>
              <a:rPr sz="4200" b="1">
                <a:solidFill>
                  <a:srgbClr val="1D1D1F"/>
                </a:solidFill>
                <a:latin typeface="Helvetica Neue"/>
              </a:rPr>
              <a:t>What Is
The Vessel?</a:t>
            </a:r>
          </a:p>
          <a:p>
            <a:pPr algn="l">
              <a:spcBef>
                <a:spcPts val="0"/>
              </a:spcBef>
              <a:spcAft>
                <a:spcPts val="100"/>
              </a:spcAft>
            </a:pPr>
            <a:r>
              <a:rPr sz="1300" b="1" spc="200">
                <a:solidFill>
                  <a:srgbClr val="86868B"/>
                </a:solidFill>
                <a:latin typeface="Helvetica Neue"/>
              </a:rPr>
              <a:t>HEIGHT</a:t>
            </a:r>
          </a:p>
          <a:p>
            <a:pPr algn="l">
              <a:lnSpc>
                <a:spcPct val="100000"/>
              </a:lnSpc>
              <a:spcBef>
                <a:spcPts val="0"/>
              </a:spcBef>
              <a:spcAft>
                <a:spcPts val="1300"/>
              </a:spcAft>
            </a:pPr>
            <a:r>
              <a:rPr sz="2300" b="1">
                <a:solidFill>
                  <a:srgbClr val="1D1D1F"/>
                </a:solidFill>
                <a:latin typeface="Helvetica Neue"/>
              </a:rPr>
              <a:t>About 46 metres (16 floors)</a:t>
            </a:r>
          </a:p>
          <a:p>
            <a:pPr algn="l">
              <a:spcBef>
                <a:spcPts val="0"/>
              </a:spcBef>
              <a:spcAft>
                <a:spcPts val="100"/>
              </a:spcAft>
            </a:pPr>
            <a:r>
              <a:rPr sz="1300" b="1" spc="200">
                <a:solidFill>
                  <a:srgbClr val="86868B"/>
                </a:solidFill>
                <a:latin typeface="Helvetica Neue"/>
              </a:rPr>
              <a:t>OPENED</a:t>
            </a:r>
          </a:p>
          <a:p>
            <a:pPr algn="l">
              <a:lnSpc>
                <a:spcPct val="100000"/>
              </a:lnSpc>
              <a:spcBef>
                <a:spcPts val="0"/>
              </a:spcBef>
              <a:spcAft>
                <a:spcPts val="1300"/>
              </a:spcAft>
            </a:pPr>
            <a:r>
              <a:rPr sz="2300" b="1">
                <a:solidFill>
                  <a:srgbClr val="1D1D1F"/>
                </a:solidFill>
                <a:latin typeface="Helvetica Neue"/>
              </a:rPr>
              <a:t>March 2019</a:t>
            </a:r>
          </a:p>
          <a:p>
            <a:pPr algn="l">
              <a:spcBef>
                <a:spcPts val="0"/>
              </a:spcBef>
              <a:spcAft>
                <a:spcPts val="100"/>
              </a:spcAft>
            </a:pPr>
            <a:r>
              <a:rPr sz="1300" b="1" spc="200">
                <a:solidFill>
                  <a:srgbClr val="86868B"/>
                </a:solidFill>
                <a:latin typeface="Helvetica Neue"/>
              </a:rPr>
              <a:t>STEPS</a:t>
            </a:r>
          </a:p>
          <a:p>
            <a:pPr algn="l">
              <a:lnSpc>
                <a:spcPct val="100000"/>
              </a:lnSpc>
              <a:spcBef>
                <a:spcPts val="0"/>
              </a:spcBef>
              <a:spcAft>
                <a:spcPts val="1300"/>
              </a:spcAft>
            </a:pPr>
            <a:r>
              <a:rPr sz="2300" b="1">
                <a:solidFill>
                  <a:srgbClr val="1D1D1F"/>
                </a:solidFill>
                <a:latin typeface="Helvetica Neue"/>
              </a:rPr>
              <a:t>154 stairs · 2,500 steps · 80 landings</a:t>
            </a:r>
          </a:p>
          <a:p>
            <a:pPr algn="l">
              <a:spcBef>
                <a:spcPts val="0"/>
              </a:spcBef>
              <a:spcAft>
                <a:spcPts val="100"/>
              </a:spcAft>
            </a:pPr>
            <a:r>
              <a:rPr sz="1300" b="1" spc="200">
                <a:solidFill>
                  <a:srgbClr val="86868B"/>
                </a:solidFill>
                <a:latin typeface="Helvetica Neue"/>
              </a:rPr>
              <a:t>PURPOSE</a:t>
            </a:r>
          </a:p>
          <a:p>
            <a:pPr algn="l">
              <a:lnSpc>
                <a:spcPct val="100000"/>
              </a:lnSpc>
              <a:spcBef>
                <a:spcPts val="0"/>
              </a:spcBef>
              <a:spcAft>
                <a:spcPts val="1300"/>
              </a:spcAft>
            </a:pPr>
            <a:r>
              <a:rPr sz="2300" b="1">
                <a:solidFill>
                  <a:srgbClr val="1D1D1F"/>
                </a:solidFill>
                <a:latin typeface="Helvetica Neue"/>
              </a:rPr>
              <a:t>Art you can climb — just for fun and views</a:t>
            </a:r>
          </a:p>
        </p:txBody>
      </p:sp>
      <p:sp>
        <p:nvSpPr>
          <p:cNvPr id="5" name="TextBox 4"/>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 Brian W. Schaller / Wikimedia Commons, Free Art License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68680"/>
            <a:ext cx="4023360" cy="512064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ARCHITECTURE</a:t>
            </a:r>
          </a:p>
          <a:p>
            <a:pPr algn="l">
              <a:lnSpc>
                <a:spcPct val="98000"/>
              </a:lnSpc>
              <a:spcBef>
                <a:spcPts val="0"/>
              </a:spcBef>
              <a:spcAft>
                <a:spcPts val="2200"/>
              </a:spcAft>
            </a:pPr>
            <a:r>
              <a:rPr sz="4600" b="1">
                <a:solidFill>
                  <a:srgbClr val="1D1D1F"/>
                </a:solidFill>
                <a:latin typeface="Helvetica Neue"/>
              </a:rPr>
              <a:t>A Unique
Design</a:t>
            </a:r>
          </a:p>
          <a:p>
            <a:pPr algn="l">
              <a:lnSpc>
                <a:spcPct val="115000"/>
              </a:lnSpc>
              <a:spcBef>
                <a:spcPts val="0"/>
              </a:spcBef>
              <a:spcAft>
                <a:spcPts val="1400"/>
              </a:spcAft>
            </a:pPr>
            <a:r>
              <a:rPr sz="2200" b="1">
                <a:solidFill>
                  <a:srgbClr val="1D1D1F"/>
                </a:solidFill>
                <a:latin typeface="Helvetica Neue"/>
              </a:rPr>
              <a:t>Shaped like a giant honeycomb.</a:t>
            </a:r>
          </a:p>
          <a:p>
            <a:pPr algn="l">
              <a:lnSpc>
                <a:spcPct val="120000"/>
              </a:lnSpc>
              <a:spcBef>
                <a:spcPts val="0"/>
              </a:spcBef>
              <a:spcAft>
                <a:spcPts val="1200"/>
              </a:spcAft>
            </a:pPr>
            <a:r>
              <a:rPr sz="2100" b="0">
                <a:solidFill>
                  <a:srgbClr val="6E6E73"/>
                </a:solidFill>
                <a:latin typeface="Helvetica Neue"/>
              </a:rPr>
              <a:t>154 staircases connect together and climb in a circle.</a:t>
            </a:r>
          </a:p>
          <a:p>
            <a:pPr algn="l">
              <a:lnSpc>
                <a:spcPct val="120000"/>
              </a:lnSpc>
              <a:spcBef>
                <a:spcPts val="0"/>
              </a:spcBef>
              <a:spcAft>
                <a:spcPts val="0"/>
              </a:spcAft>
            </a:pPr>
            <a:r>
              <a:rPr sz="2100" b="0">
                <a:solidFill>
                  <a:srgbClr val="6E6E73"/>
                </a:solidFill>
                <a:latin typeface="Helvetica Neue"/>
              </a:rPr>
              <a:t>Copper-coloured steel makes it shine in the sun.</a:t>
            </a:r>
          </a:p>
        </p:txBody>
      </p:sp>
      <p:pic>
        <p:nvPicPr>
          <p:cNvPr id="4" name="Picture 3" descr="design.jpg"/>
          <p:cNvPicPr>
            <a:picLocks noChangeAspect="1"/>
          </p:cNvPicPr>
          <p:nvPr/>
        </p:nvPicPr>
        <p:blipFill>
          <a:blip r:embed="rId2"/>
          <a:srcRect l="7839" r="7839"/>
          <a:stretch>
            <a:fillRect/>
          </a:stretch>
        </p:blipFill>
        <p:spPr>
          <a:xfrm>
            <a:off x="5074920" y="548640"/>
            <a:ext cx="3238347" cy="5760720"/>
          </a:xfrm>
          <a:prstGeom prst="rect">
            <a:avLst/>
          </a:prstGeom>
          <a:effectLst/>
        </p:spPr>
      </p:pic>
      <p:pic>
        <p:nvPicPr>
          <p:cNvPr id="5" name="Picture 4" descr="design2.jpg"/>
          <p:cNvPicPr>
            <a:picLocks noChangeAspect="1"/>
          </p:cNvPicPr>
          <p:nvPr/>
        </p:nvPicPr>
        <p:blipFill>
          <a:blip r:embed="rId3"/>
          <a:srcRect l="2428" r="2428"/>
          <a:stretch>
            <a:fillRect/>
          </a:stretch>
        </p:blipFill>
        <p:spPr>
          <a:xfrm>
            <a:off x="8496147" y="548640"/>
            <a:ext cx="3238347" cy="5760720"/>
          </a:xfrm>
          <a:prstGeom prst="rect">
            <a:avLst/>
          </a:prstGeom>
          <a:effectLst/>
        </p:spPr>
      </p:pic>
      <p:sp>
        <p:nvSpPr>
          <p:cNvPr id="6" name="TextBox 5"/>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Photos: Mike Peel (www.mikepeel.net) / Wikimedia Commons, CC BY-SA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un.jpg"/>
          <p:cNvPicPr>
            <a:picLocks noChangeAspect="1"/>
          </p:cNvPicPr>
          <p:nvPr/>
        </p:nvPicPr>
        <p:blipFill>
          <a:blip r:embed="rId2"/>
          <a:srcRect l="3484" r="3484"/>
          <a:stretch>
            <a:fillRect/>
          </a:stretch>
        </p:blipFill>
        <p:spPr>
          <a:xfrm>
            <a:off x="7406640" y="0"/>
            <a:ext cx="4785055" cy="6858000"/>
          </a:xfrm>
          <a:prstGeom prst="rect">
            <a:avLst/>
          </a:prstGeom>
          <a:effectLst/>
        </p:spPr>
      </p:pic>
      <p:sp>
        <p:nvSpPr>
          <p:cNvPr id="4" name="TextBox 3"/>
          <p:cNvSpPr txBox="1"/>
          <p:nvPr/>
        </p:nvSpPr>
        <p:spPr>
          <a:xfrm>
            <a:off x="822960" y="777240"/>
            <a:ext cx="6035040" cy="128016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DID YOU KNOW?</a:t>
            </a:r>
          </a:p>
          <a:p>
            <a:pPr algn="l">
              <a:spcBef>
                <a:spcPts val="0"/>
              </a:spcBef>
              <a:spcAft>
                <a:spcPts val="0"/>
              </a:spcAft>
            </a:pPr>
            <a:r>
              <a:rPr sz="4600" b="1">
                <a:solidFill>
                  <a:srgbClr val="1D1D1F"/>
                </a:solidFill>
                <a:latin typeface="Helvetica Neue"/>
              </a:rPr>
              <a:t>Fun Facts</a:t>
            </a:r>
          </a:p>
        </p:txBody>
      </p:sp>
      <p:sp>
        <p:nvSpPr>
          <p:cNvPr id="5" name="Oval 4"/>
          <p:cNvSpPr/>
          <p:nvPr/>
        </p:nvSpPr>
        <p:spPr>
          <a:xfrm>
            <a:off x="868680" y="2148840"/>
            <a:ext cx="566928" cy="566928"/>
          </a:xfrm>
          <a:prstGeom prst="ellipse">
            <a:avLst/>
          </a:prstGeom>
          <a:solidFill>
            <a:srgbClr val="F5F5F7"/>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1D1D1F"/>
                </a:solidFill>
                <a:latin typeface="Helvetica Neue"/>
              </a:rPr>
              <a:t>1</a:t>
            </a:r>
          </a:p>
        </p:txBody>
      </p:sp>
      <p:sp>
        <p:nvSpPr>
          <p:cNvPr id="6" name="TextBox 5"/>
          <p:cNvSpPr txBox="1"/>
          <p:nvPr/>
        </p:nvSpPr>
        <p:spPr>
          <a:xfrm>
            <a:off x="1691640" y="2103120"/>
            <a:ext cx="5029200" cy="822960"/>
          </a:xfrm>
          <a:prstGeom prst="rect">
            <a:avLst/>
          </a:prstGeom>
          <a:noFill/>
        </p:spPr>
        <p:txBody>
          <a:bodyPr wrap="square" anchor="ctr" lIns="0" rIns="0" tIns="0" bIns="0">
            <a:spAutoFit/>
          </a:bodyPr>
          <a:lstStyle/>
          <a:p>
            <a:pPr algn="l">
              <a:lnSpc>
                <a:spcPct val="110000"/>
              </a:lnSpc>
              <a:spcBef>
                <a:spcPts val="0"/>
              </a:spcBef>
              <a:spcAft>
                <a:spcPts val="0"/>
              </a:spcAft>
            </a:pPr>
            <a:r>
              <a:rPr sz="2200" b="0">
                <a:solidFill>
                  <a:srgbClr val="1D1D1F"/>
                </a:solidFill>
                <a:latin typeface="Helvetica Neue"/>
              </a:rPr>
              <a:t>It cost about 200 million dollars to build.</a:t>
            </a:r>
          </a:p>
        </p:txBody>
      </p:sp>
      <p:sp>
        <p:nvSpPr>
          <p:cNvPr id="7" name="Oval 6"/>
          <p:cNvSpPr/>
          <p:nvPr/>
        </p:nvSpPr>
        <p:spPr>
          <a:xfrm>
            <a:off x="868680" y="3172968"/>
            <a:ext cx="566928" cy="566928"/>
          </a:xfrm>
          <a:prstGeom prst="ellipse">
            <a:avLst/>
          </a:prstGeom>
          <a:solidFill>
            <a:srgbClr val="F5F5F7"/>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1D1D1F"/>
                </a:solidFill>
                <a:latin typeface="Helvetica Neue"/>
              </a:rPr>
              <a:t>2</a:t>
            </a:r>
          </a:p>
        </p:txBody>
      </p:sp>
      <p:sp>
        <p:nvSpPr>
          <p:cNvPr id="8" name="TextBox 7"/>
          <p:cNvSpPr txBox="1"/>
          <p:nvPr/>
        </p:nvSpPr>
        <p:spPr>
          <a:xfrm>
            <a:off x="1691640" y="3127248"/>
            <a:ext cx="5029200" cy="822960"/>
          </a:xfrm>
          <a:prstGeom prst="rect">
            <a:avLst/>
          </a:prstGeom>
          <a:noFill/>
        </p:spPr>
        <p:txBody>
          <a:bodyPr wrap="square" anchor="ctr" lIns="0" rIns="0" tIns="0" bIns="0">
            <a:spAutoFit/>
          </a:bodyPr>
          <a:lstStyle/>
          <a:p>
            <a:pPr algn="l">
              <a:lnSpc>
                <a:spcPct val="110000"/>
              </a:lnSpc>
              <a:spcBef>
                <a:spcPts val="0"/>
              </a:spcBef>
              <a:spcAft>
                <a:spcPts val="0"/>
              </a:spcAft>
            </a:pPr>
            <a:r>
              <a:rPr sz="2200" b="0">
                <a:solidFill>
                  <a:srgbClr val="1D1D1F"/>
                </a:solidFill>
                <a:latin typeface="Helvetica Neue"/>
              </a:rPr>
              <a:t>It weighs around 600 tonnes of steel.</a:t>
            </a:r>
          </a:p>
        </p:txBody>
      </p:sp>
      <p:sp>
        <p:nvSpPr>
          <p:cNvPr id="9" name="Oval 8"/>
          <p:cNvSpPr/>
          <p:nvPr/>
        </p:nvSpPr>
        <p:spPr>
          <a:xfrm>
            <a:off x="868680" y="4197096"/>
            <a:ext cx="566928" cy="566928"/>
          </a:xfrm>
          <a:prstGeom prst="ellipse">
            <a:avLst/>
          </a:prstGeom>
          <a:solidFill>
            <a:srgbClr val="F5F5F7"/>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1D1D1F"/>
                </a:solidFill>
                <a:latin typeface="Helvetica Neue"/>
              </a:rPr>
              <a:t>3</a:t>
            </a:r>
          </a:p>
        </p:txBody>
      </p:sp>
      <p:sp>
        <p:nvSpPr>
          <p:cNvPr id="10" name="TextBox 9"/>
          <p:cNvSpPr txBox="1"/>
          <p:nvPr/>
        </p:nvSpPr>
        <p:spPr>
          <a:xfrm>
            <a:off x="1691640" y="4151376"/>
            <a:ext cx="5029200" cy="822960"/>
          </a:xfrm>
          <a:prstGeom prst="rect">
            <a:avLst/>
          </a:prstGeom>
          <a:noFill/>
        </p:spPr>
        <p:txBody>
          <a:bodyPr wrap="square" anchor="ctr" lIns="0" rIns="0" tIns="0" bIns="0">
            <a:spAutoFit/>
          </a:bodyPr>
          <a:lstStyle/>
          <a:p>
            <a:pPr algn="l">
              <a:lnSpc>
                <a:spcPct val="110000"/>
              </a:lnSpc>
              <a:spcBef>
                <a:spcPts val="0"/>
              </a:spcBef>
              <a:spcAft>
                <a:spcPts val="0"/>
              </a:spcAft>
            </a:pPr>
            <a:r>
              <a:rPr sz="2200" b="0">
                <a:solidFill>
                  <a:srgbClr val="1D1D1F"/>
                </a:solidFill>
                <a:latin typeface="Helvetica Neue"/>
              </a:rPr>
              <a:t>It was made in Italy, then shipped to New York.</a:t>
            </a:r>
          </a:p>
        </p:txBody>
      </p:sp>
      <p:sp>
        <p:nvSpPr>
          <p:cNvPr id="11" name="Oval 10"/>
          <p:cNvSpPr/>
          <p:nvPr/>
        </p:nvSpPr>
        <p:spPr>
          <a:xfrm>
            <a:off x="868680" y="5221224"/>
            <a:ext cx="566928" cy="566928"/>
          </a:xfrm>
          <a:prstGeom prst="ellipse">
            <a:avLst/>
          </a:prstGeom>
          <a:solidFill>
            <a:srgbClr val="F5F5F7"/>
          </a:solidFill>
          <a:ln w="12700">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1D1D1F"/>
                </a:solidFill>
                <a:latin typeface="Helvetica Neue"/>
              </a:rPr>
              <a:t>4</a:t>
            </a:r>
          </a:p>
        </p:txBody>
      </p:sp>
      <p:sp>
        <p:nvSpPr>
          <p:cNvPr id="12" name="TextBox 11"/>
          <p:cNvSpPr txBox="1"/>
          <p:nvPr/>
        </p:nvSpPr>
        <p:spPr>
          <a:xfrm>
            <a:off x="1691640" y="5175504"/>
            <a:ext cx="5029200" cy="822960"/>
          </a:xfrm>
          <a:prstGeom prst="rect">
            <a:avLst/>
          </a:prstGeom>
          <a:noFill/>
        </p:spPr>
        <p:txBody>
          <a:bodyPr wrap="square" anchor="ctr" lIns="0" rIns="0" tIns="0" bIns="0">
            <a:spAutoFit/>
          </a:bodyPr>
          <a:lstStyle/>
          <a:p>
            <a:pPr algn="l">
              <a:lnSpc>
                <a:spcPct val="110000"/>
              </a:lnSpc>
              <a:spcBef>
                <a:spcPts val="0"/>
              </a:spcBef>
              <a:spcAft>
                <a:spcPts val="0"/>
              </a:spcAft>
            </a:pPr>
            <a:r>
              <a:rPr sz="2200" b="0">
                <a:solidFill>
                  <a:srgbClr val="1D1D1F"/>
                </a:solidFill>
                <a:latin typeface="Helvetica Neue"/>
              </a:rPr>
              <a:t>At first, climbing it was completely free.</a:t>
            </a:r>
          </a:p>
        </p:txBody>
      </p:sp>
      <p:sp>
        <p:nvSpPr>
          <p:cNvPr id="13" name="TextBox 12"/>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 Mike Peel (www.mikepeel.net) / Wikimedia Commons, CC BY-SA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isit.jpg"/>
          <p:cNvPicPr>
            <a:picLocks noChangeAspect="1"/>
          </p:cNvPicPr>
          <p:nvPr/>
        </p:nvPicPr>
        <p:blipFill>
          <a:blip r:embed="rId2"/>
          <a:srcRect l="10038" r="10038"/>
          <a:stretch>
            <a:fillRect/>
          </a:stretch>
        </p:blipFill>
        <p:spPr>
          <a:xfrm>
            <a:off x="0" y="0"/>
            <a:ext cx="12191695" cy="6858000"/>
          </a:xfrm>
          <a:prstGeom prst="rect">
            <a:avLst/>
          </a:prstGeom>
          <a:effectLst/>
        </p:spPr>
      </p:pic>
      <p:sp>
        <p:nvSpPr>
          <p:cNvPr id="4" name="Rectangle 3"/>
          <p:cNvSpPr/>
          <p:nvPr/>
        </p:nvSpPr>
        <p:spPr>
          <a:xfrm>
            <a:off x="0" y="0"/>
            <a:ext cx="12191695" cy="6858000"/>
          </a:xfrm>
          <a:prstGeom prst="rect">
            <a:avLst/>
          </a:prstGeom>
          <a:solidFill>
            <a:srgbClr val="000000">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206240"/>
            <a:ext cx="12191695" cy="2651760"/>
          </a:xfrm>
          <a:prstGeom prst="rect">
            <a:avLst/>
          </a:prstGeom>
          <a:solidFill>
            <a:srgbClr val="00000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515600" cy="2286000"/>
          </a:xfrm>
          <a:prstGeom prst="rect">
            <a:avLst/>
          </a:prstGeom>
          <a:noFill/>
        </p:spPr>
        <p:txBody>
          <a:bodyPr wrap="square" anchor="t" lIns="0" rIns="0" tIns="0" bIns="0">
            <a:spAutoFit/>
          </a:bodyPr>
          <a:lstStyle/>
          <a:p>
            <a:pPr algn="l">
              <a:spcBef>
                <a:spcPts val="0"/>
              </a:spcBef>
              <a:spcAft>
                <a:spcPts val="1000"/>
              </a:spcAft>
            </a:pPr>
            <a:r>
              <a:rPr sz="1500" b="1" spc="300">
                <a:solidFill>
                  <a:srgbClr val="E6E6E8"/>
                </a:solidFill>
                <a:latin typeface="Helvetica Neue"/>
              </a:rPr>
              <a:t>A TOURIST FAVOURITE</a:t>
            </a:r>
          </a:p>
          <a:p>
            <a:pPr algn="l">
              <a:spcBef>
                <a:spcPts val="0"/>
              </a:spcBef>
              <a:spcAft>
                <a:spcPts val="1000"/>
              </a:spcAft>
            </a:pPr>
            <a:r>
              <a:rPr sz="4800" b="1">
                <a:solidFill>
                  <a:srgbClr val="FFFFFF"/>
                </a:solidFill>
                <a:latin typeface="Helvetica Neue"/>
              </a:rPr>
              <a:t>Why People Visit</a:t>
            </a:r>
          </a:p>
          <a:p>
            <a:pPr algn="l">
              <a:spcBef>
                <a:spcPts val="0"/>
              </a:spcBef>
              <a:spcAft>
                <a:spcPts val="0"/>
              </a:spcAft>
            </a:pPr>
            <a:r>
              <a:rPr sz="2400" b="0">
                <a:solidFill>
                  <a:srgbClr val="EAEAEC"/>
                </a:solidFill>
                <a:latin typeface="Helvetica Neue"/>
              </a:rPr>
              <a:t>Amazing views  ·  Perfect photos  ·  A famous landmark</a:t>
            </a:r>
          </a:p>
        </p:txBody>
      </p:sp>
      <p:sp>
        <p:nvSpPr>
          <p:cNvPr id="7" name="TextBox 6"/>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ECECEE"/>
                </a:solidFill>
                <a:latin typeface="Helvetica Neue"/>
              </a:rPr>
              <a:t>Photo: Kidfly182 / Wikimedia Commons, CC BY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blems.jpg"/>
          <p:cNvPicPr>
            <a:picLocks noChangeAspect="1"/>
          </p:cNvPicPr>
          <p:nvPr/>
        </p:nvPicPr>
        <p:blipFill>
          <a:blip r:embed="rId2"/>
          <a:srcRect l="30719" r="30719"/>
          <a:stretch>
            <a:fillRect/>
          </a:stretch>
        </p:blipFill>
        <p:spPr>
          <a:xfrm>
            <a:off x="6309360" y="0"/>
            <a:ext cx="5882335" cy="6858000"/>
          </a:xfrm>
          <a:prstGeom prst="rect">
            <a:avLst/>
          </a:prstGeom>
          <a:effectLst/>
        </p:spPr>
      </p:pic>
      <p:sp>
        <p:nvSpPr>
          <p:cNvPr id="4" name="TextBox 3"/>
          <p:cNvSpPr txBox="1"/>
          <p:nvPr/>
        </p:nvSpPr>
        <p:spPr>
          <a:xfrm>
            <a:off x="822960" y="914400"/>
            <a:ext cx="5029200" cy="512064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CONTROVERSIES</a:t>
            </a:r>
          </a:p>
          <a:p>
            <a:pPr algn="l">
              <a:lnSpc>
                <a:spcPct val="100000"/>
              </a:lnSpc>
              <a:spcBef>
                <a:spcPts val="0"/>
              </a:spcBef>
              <a:spcAft>
                <a:spcPts val="2200"/>
              </a:spcAft>
            </a:pPr>
            <a:r>
              <a:rPr sz="4600" b="1">
                <a:solidFill>
                  <a:srgbClr val="1D1D1F"/>
                </a:solidFill>
                <a:latin typeface="Helvetica Neue"/>
              </a:rPr>
              <a:t>Problems</a:t>
            </a:r>
          </a:p>
          <a:p>
            <a:pPr algn="l">
              <a:lnSpc>
                <a:spcPct val="115000"/>
              </a:lnSpc>
              <a:spcBef>
                <a:spcPts val="0"/>
              </a:spcBef>
              <a:spcAft>
                <a:spcPts val="1400"/>
              </a:spcAft>
            </a:pPr>
            <a:r>
              <a:rPr sz="2400" b="1">
                <a:solidFill>
                  <a:srgbClr val="1D1D1F"/>
                </a:solidFill>
                <a:latin typeface="Helvetica Neue"/>
              </a:rPr>
              <a:t>Sadly, some people were hurt here.</a:t>
            </a:r>
          </a:p>
          <a:p>
            <a:pPr algn="l">
              <a:lnSpc>
                <a:spcPct val="120000"/>
              </a:lnSpc>
              <a:spcBef>
                <a:spcPts val="0"/>
              </a:spcBef>
              <a:spcAft>
                <a:spcPts val="1200"/>
              </a:spcAft>
            </a:pPr>
            <a:r>
              <a:rPr sz="2100" b="0">
                <a:solidFill>
                  <a:srgbClr val="6E6E73"/>
                </a:solidFill>
                <a:latin typeface="Helvetica Neue"/>
              </a:rPr>
              <a:t>Because of safety worries, The Vessel was closed in 2021.</a:t>
            </a:r>
          </a:p>
          <a:p>
            <a:pPr algn="l">
              <a:lnSpc>
                <a:spcPct val="120000"/>
              </a:lnSpc>
              <a:spcBef>
                <a:spcPts val="0"/>
              </a:spcBef>
              <a:spcAft>
                <a:spcPts val="0"/>
              </a:spcAft>
            </a:pPr>
            <a:r>
              <a:rPr sz="2100" b="0">
                <a:solidFill>
                  <a:srgbClr val="6E6E73"/>
                </a:solidFill>
                <a:latin typeface="Helvetica Neue"/>
              </a:rPr>
              <a:t>People said the walls and railings were too low and not safe enough.</a:t>
            </a:r>
          </a:p>
        </p:txBody>
      </p:sp>
      <p:sp>
        <p:nvSpPr>
          <p:cNvPr id="5" name="TextBox 4"/>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 Kidfly182 / Wikimedia Commons, CC BY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day.jpg"/>
          <p:cNvPicPr>
            <a:picLocks noChangeAspect="1"/>
          </p:cNvPicPr>
          <p:nvPr/>
        </p:nvPicPr>
        <p:blipFill>
          <a:blip r:embed="rId2"/>
          <a:srcRect l="23750" r="23750"/>
          <a:stretch>
            <a:fillRect/>
          </a:stretch>
        </p:blipFill>
        <p:spPr>
          <a:xfrm>
            <a:off x="0" y="0"/>
            <a:ext cx="6400800" cy="6858000"/>
          </a:xfrm>
          <a:prstGeom prst="rect">
            <a:avLst/>
          </a:prstGeom>
          <a:effectLst/>
        </p:spPr>
      </p:pic>
      <p:sp>
        <p:nvSpPr>
          <p:cNvPr id="4" name="TextBox 3"/>
          <p:cNvSpPr txBox="1"/>
          <p:nvPr/>
        </p:nvSpPr>
        <p:spPr>
          <a:xfrm>
            <a:off x="6858000" y="914400"/>
            <a:ext cx="4846320" cy="512064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RIGHT NOW</a:t>
            </a:r>
          </a:p>
          <a:p>
            <a:pPr algn="l">
              <a:lnSpc>
                <a:spcPct val="98000"/>
              </a:lnSpc>
              <a:spcBef>
                <a:spcPts val="0"/>
              </a:spcBef>
              <a:spcAft>
                <a:spcPts val="2200"/>
              </a:spcAft>
            </a:pPr>
            <a:r>
              <a:rPr sz="4600" b="1">
                <a:solidFill>
                  <a:srgbClr val="1D1D1F"/>
                </a:solidFill>
                <a:latin typeface="Helvetica Neue"/>
              </a:rPr>
              <a:t>The Vessel
Today</a:t>
            </a:r>
          </a:p>
          <a:p>
            <a:pPr algn="l">
              <a:lnSpc>
                <a:spcPct val="115000"/>
              </a:lnSpc>
              <a:spcBef>
                <a:spcPts val="0"/>
              </a:spcBef>
              <a:spcAft>
                <a:spcPts val="1400"/>
              </a:spcAft>
            </a:pPr>
            <a:r>
              <a:rPr sz="2400" b="1">
                <a:solidFill>
                  <a:srgbClr val="1D1D1F"/>
                </a:solidFill>
                <a:latin typeface="Helvetica Neue"/>
              </a:rPr>
              <a:t>It reopened in October 2024.</a:t>
            </a:r>
          </a:p>
          <a:p>
            <a:pPr algn="l">
              <a:lnSpc>
                <a:spcPct val="120000"/>
              </a:lnSpc>
              <a:spcBef>
                <a:spcPts val="0"/>
              </a:spcBef>
              <a:spcAft>
                <a:spcPts val="1200"/>
              </a:spcAft>
            </a:pPr>
            <a:r>
              <a:rPr sz="2100" b="0">
                <a:solidFill>
                  <a:srgbClr val="6E6E73"/>
                </a:solidFill>
                <a:latin typeface="Helvetica Neue"/>
              </a:rPr>
              <a:t>New floor-to-ceiling steel nets now keep visitors safe.</a:t>
            </a:r>
          </a:p>
          <a:p>
            <a:pPr algn="l">
              <a:lnSpc>
                <a:spcPct val="120000"/>
              </a:lnSpc>
              <a:spcBef>
                <a:spcPts val="0"/>
              </a:spcBef>
              <a:spcAft>
                <a:spcPts val="0"/>
              </a:spcAft>
            </a:pPr>
            <a:r>
              <a:rPr sz="2100" b="0">
                <a:solidFill>
                  <a:srgbClr val="6E6E73"/>
                </a:solidFill>
                <a:latin typeface="Helvetica Neue"/>
              </a:rPr>
              <a:t>The lower levels are open again, so people can climb and enjoy the views.</a:t>
            </a:r>
          </a:p>
        </p:txBody>
      </p:sp>
      <p:sp>
        <p:nvSpPr>
          <p:cNvPr id="5" name="TextBox 4"/>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 Kidfly182 / Wikimedia Commons,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pinion.jpg"/>
          <p:cNvPicPr>
            <a:picLocks noChangeAspect="1"/>
          </p:cNvPicPr>
          <p:nvPr/>
        </p:nvPicPr>
        <p:blipFill>
          <a:blip r:embed="rId2"/>
          <a:srcRect t="10938" b="10938"/>
          <a:stretch>
            <a:fillRect/>
          </a:stretch>
        </p:blipFill>
        <p:spPr>
          <a:xfrm>
            <a:off x="0" y="0"/>
            <a:ext cx="4937760" cy="6858000"/>
          </a:xfrm>
          <a:prstGeom prst="rect">
            <a:avLst/>
          </a:prstGeom>
          <a:effectLst/>
        </p:spPr>
      </p:pic>
      <p:sp>
        <p:nvSpPr>
          <p:cNvPr id="4" name="TextBox 3"/>
          <p:cNvSpPr txBox="1"/>
          <p:nvPr/>
        </p:nvSpPr>
        <p:spPr>
          <a:xfrm>
            <a:off x="5486400" y="822960"/>
            <a:ext cx="6126480" cy="1188720"/>
          </a:xfrm>
          <a:prstGeom prst="rect">
            <a:avLst/>
          </a:prstGeom>
          <a:noFill/>
        </p:spPr>
        <p:txBody>
          <a:bodyPr wrap="square" anchor="t" lIns="0" rIns="0" tIns="0" bIns="0">
            <a:spAutoFit/>
          </a:bodyPr>
          <a:lstStyle/>
          <a:p>
            <a:pPr algn="l">
              <a:spcBef>
                <a:spcPts val="0"/>
              </a:spcBef>
              <a:spcAft>
                <a:spcPts val="1000"/>
              </a:spcAft>
            </a:pPr>
            <a:r>
              <a:rPr sz="1500" b="1" spc="300">
                <a:solidFill>
                  <a:srgbClr val="86868B"/>
                </a:solidFill>
                <a:latin typeface="Helvetica Neue"/>
              </a:rPr>
              <a:t>MY OPINION</a:t>
            </a:r>
          </a:p>
          <a:p>
            <a:pPr algn="l">
              <a:spcBef>
                <a:spcPts val="0"/>
              </a:spcBef>
              <a:spcAft>
                <a:spcPts val="0"/>
              </a:spcAft>
            </a:pPr>
            <a:r>
              <a:rPr sz="4600" b="1">
                <a:solidFill>
                  <a:srgbClr val="1D1D1F"/>
                </a:solidFill>
                <a:latin typeface="Helvetica Neue"/>
              </a:rPr>
              <a:t>What I Think</a:t>
            </a:r>
          </a:p>
        </p:txBody>
      </p:sp>
      <p:sp>
        <p:nvSpPr>
          <p:cNvPr id="5" name="TextBox 4"/>
          <p:cNvSpPr txBox="1"/>
          <p:nvPr/>
        </p:nvSpPr>
        <p:spPr>
          <a:xfrm>
            <a:off x="5486400" y="2286000"/>
            <a:ext cx="2926080" cy="3657600"/>
          </a:xfrm>
          <a:prstGeom prst="rect">
            <a:avLst/>
          </a:prstGeom>
          <a:noFill/>
        </p:spPr>
        <p:txBody>
          <a:bodyPr wrap="square" anchor="t" lIns="0" rIns="0" tIns="0" bIns="0">
            <a:spAutoFit/>
          </a:bodyPr>
          <a:lstStyle/>
          <a:p>
            <a:pPr algn="l">
              <a:spcBef>
                <a:spcPts val="0"/>
              </a:spcBef>
              <a:spcAft>
                <a:spcPts val="1200"/>
              </a:spcAft>
            </a:pPr>
            <a:r>
              <a:rPr sz="1800" b="1" spc="200">
                <a:solidFill>
                  <a:srgbClr val="1D1D1F"/>
                </a:solidFill>
                <a:latin typeface="Helvetica Neue"/>
              </a:rPr>
              <a:t>+  GOOD</a:t>
            </a:r>
          </a:p>
          <a:p>
            <a:pPr algn="l">
              <a:lnSpc>
                <a:spcPct val="115000"/>
              </a:lnSpc>
              <a:spcBef>
                <a:spcPts val="0"/>
              </a:spcBef>
              <a:spcAft>
                <a:spcPts val="1200"/>
              </a:spcAft>
            </a:pPr>
            <a:r>
              <a:rPr sz="2000" b="0">
                <a:solidFill>
                  <a:srgbClr val="6E6E73"/>
                </a:solidFill>
                <a:latin typeface="Helvetica Neue"/>
              </a:rPr>
              <a:t>Beautiful and very original</a:t>
            </a:r>
          </a:p>
          <a:p>
            <a:pPr algn="l">
              <a:lnSpc>
                <a:spcPct val="115000"/>
              </a:lnSpc>
              <a:spcBef>
                <a:spcPts val="0"/>
              </a:spcBef>
              <a:spcAft>
                <a:spcPts val="1200"/>
              </a:spcAft>
            </a:pPr>
            <a:r>
              <a:rPr sz="2000" b="0">
                <a:solidFill>
                  <a:srgbClr val="6E6E73"/>
                </a:solidFill>
                <a:latin typeface="Helvetica Neue"/>
              </a:rPr>
              <a:t>Great views and photos</a:t>
            </a:r>
          </a:p>
          <a:p>
            <a:pPr algn="l">
              <a:lnSpc>
                <a:spcPct val="115000"/>
              </a:lnSpc>
              <a:spcBef>
                <a:spcPts val="0"/>
              </a:spcBef>
              <a:spcAft>
                <a:spcPts val="1200"/>
              </a:spcAft>
            </a:pPr>
            <a:r>
              <a:rPr sz="2000" b="0">
                <a:solidFill>
                  <a:srgbClr val="6E6E73"/>
                </a:solidFill>
                <a:latin typeface="Helvetica Neue"/>
              </a:rPr>
              <a:t>Free public art for the city</a:t>
            </a:r>
          </a:p>
        </p:txBody>
      </p:sp>
      <p:sp>
        <p:nvSpPr>
          <p:cNvPr id="6" name="TextBox 5"/>
          <p:cNvSpPr txBox="1"/>
          <p:nvPr/>
        </p:nvSpPr>
        <p:spPr>
          <a:xfrm>
            <a:off x="8732520" y="2286000"/>
            <a:ext cx="2926080" cy="3657600"/>
          </a:xfrm>
          <a:prstGeom prst="rect">
            <a:avLst/>
          </a:prstGeom>
          <a:noFill/>
        </p:spPr>
        <p:txBody>
          <a:bodyPr wrap="square" anchor="t" lIns="0" rIns="0" tIns="0" bIns="0">
            <a:spAutoFit/>
          </a:bodyPr>
          <a:lstStyle/>
          <a:p>
            <a:pPr algn="l">
              <a:spcBef>
                <a:spcPts val="0"/>
              </a:spcBef>
              <a:spcAft>
                <a:spcPts val="1200"/>
              </a:spcAft>
            </a:pPr>
            <a:r>
              <a:rPr sz="1800" b="1" spc="200">
                <a:solidFill>
                  <a:srgbClr val="1D1D1F"/>
                </a:solidFill>
                <a:latin typeface="Helvetica Neue"/>
              </a:rPr>
              <a:t>–  NOT SO GOOD</a:t>
            </a:r>
          </a:p>
          <a:p>
            <a:pPr algn="l">
              <a:lnSpc>
                <a:spcPct val="115000"/>
              </a:lnSpc>
              <a:spcBef>
                <a:spcPts val="0"/>
              </a:spcBef>
              <a:spcAft>
                <a:spcPts val="1200"/>
              </a:spcAft>
            </a:pPr>
            <a:r>
              <a:rPr sz="2000" b="0">
                <a:solidFill>
                  <a:srgbClr val="6E6E73"/>
                </a:solidFill>
                <a:latin typeface="Helvetica Neue"/>
              </a:rPr>
              <a:t>Safety was a big problem</a:t>
            </a:r>
          </a:p>
          <a:p>
            <a:pPr algn="l">
              <a:lnSpc>
                <a:spcPct val="115000"/>
              </a:lnSpc>
              <a:spcBef>
                <a:spcPts val="0"/>
              </a:spcBef>
              <a:spcAft>
                <a:spcPts val="1200"/>
              </a:spcAft>
            </a:pPr>
            <a:r>
              <a:rPr sz="2000" b="0">
                <a:solidFill>
                  <a:srgbClr val="6E6E73"/>
                </a:solidFill>
                <a:latin typeface="Helvetica Neue"/>
              </a:rPr>
              <a:t>Very expensive to build</a:t>
            </a:r>
          </a:p>
          <a:p>
            <a:pPr algn="l">
              <a:lnSpc>
                <a:spcPct val="115000"/>
              </a:lnSpc>
              <a:spcBef>
                <a:spcPts val="0"/>
              </a:spcBef>
              <a:spcAft>
                <a:spcPts val="1200"/>
              </a:spcAft>
            </a:pPr>
            <a:r>
              <a:rPr sz="2000" b="0">
                <a:solidFill>
                  <a:srgbClr val="6E6E73"/>
                </a:solidFill>
                <a:latin typeface="Helvetica Neue"/>
              </a:rPr>
              <a:t>The new nets change the view</a:t>
            </a:r>
          </a:p>
        </p:txBody>
      </p:sp>
      <p:sp>
        <p:nvSpPr>
          <p:cNvPr id="7" name="Rectangle 6"/>
          <p:cNvSpPr/>
          <p:nvPr/>
        </p:nvSpPr>
        <p:spPr>
          <a:xfrm>
            <a:off x="8595360" y="2331720"/>
            <a:ext cx="15240" cy="3108960"/>
          </a:xfrm>
          <a:prstGeom prst="rect">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B0B0B5"/>
                </a:solidFill>
                <a:latin typeface="Helvetica Neue"/>
              </a:rPr>
              <a:t>Photo: Dancerma / Wikimedia Commons, CC BY-SA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hanks.jpg"/>
          <p:cNvPicPr>
            <a:picLocks noChangeAspect="1"/>
          </p:cNvPicPr>
          <p:nvPr/>
        </p:nvPicPr>
        <p:blipFill>
          <a:blip r:embed="rId2"/>
          <a:srcRect t="12499" b="12499"/>
          <a:stretch>
            <a:fillRect/>
          </a:stretch>
        </p:blipFill>
        <p:spPr>
          <a:xfrm>
            <a:off x="0" y="0"/>
            <a:ext cx="12191695" cy="6858000"/>
          </a:xfrm>
          <a:prstGeom prst="rect">
            <a:avLst/>
          </a:prstGeom>
          <a:effectLst/>
        </p:spPr>
      </p:pic>
      <p:sp>
        <p:nvSpPr>
          <p:cNvPr id="4" name="Rectangle 3"/>
          <p:cNvSpPr/>
          <p:nvPr/>
        </p:nvSpPr>
        <p:spPr>
          <a:xfrm>
            <a:off x="0" y="0"/>
            <a:ext cx="12191695" cy="6858000"/>
          </a:xfrm>
          <a:prstGeom prst="rect">
            <a:avLst/>
          </a:prstGeom>
          <a:solidFill>
            <a:srgbClr val="000000">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468880"/>
            <a:ext cx="10515600" cy="2011680"/>
          </a:xfrm>
          <a:prstGeom prst="rect">
            <a:avLst/>
          </a:prstGeom>
          <a:noFill/>
        </p:spPr>
        <p:txBody>
          <a:bodyPr wrap="square" anchor="ctr" lIns="0" rIns="0" tIns="0" bIns="0">
            <a:spAutoFit/>
          </a:bodyPr>
          <a:lstStyle/>
          <a:p>
            <a:pPr algn="ctr">
              <a:spcBef>
                <a:spcPts val="0"/>
              </a:spcBef>
              <a:spcAft>
                <a:spcPts val="600"/>
              </a:spcAft>
            </a:pPr>
            <a:r>
              <a:rPr sz="8000" b="1" spc="100">
                <a:solidFill>
                  <a:srgbClr val="FFFFFF"/>
                </a:solidFill>
                <a:latin typeface="Helvetica Neue"/>
              </a:rPr>
              <a:t>Thank You</a:t>
            </a:r>
          </a:p>
          <a:p>
            <a:pPr algn="ctr">
              <a:spcBef>
                <a:spcPts val="0"/>
              </a:spcBef>
              <a:spcAft>
                <a:spcPts val="0"/>
              </a:spcAft>
            </a:pPr>
            <a:r>
              <a:rPr sz="3200" b="0">
                <a:solidFill>
                  <a:srgbClr val="EAEAEC"/>
                </a:solidFill>
                <a:latin typeface="Helvetica Neue"/>
              </a:rPr>
              <a:t>For Listening</a:t>
            </a:r>
          </a:p>
        </p:txBody>
      </p:sp>
      <p:sp>
        <p:nvSpPr>
          <p:cNvPr id="6" name="TextBox 5"/>
          <p:cNvSpPr txBox="1"/>
          <p:nvPr/>
        </p:nvSpPr>
        <p:spPr>
          <a:xfrm>
            <a:off x="457200" y="6510528"/>
            <a:ext cx="11274552" cy="274320"/>
          </a:xfrm>
          <a:prstGeom prst="rect">
            <a:avLst/>
          </a:prstGeom>
          <a:noFill/>
        </p:spPr>
        <p:txBody>
          <a:bodyPr wrap="square" anchor="t" lIns="0" rIns="0" tIns="0" bIns="0">
            <a:spAutoFit/>
          </a:bodyPr>
          <a:lstStyle/>
          <a:p>
            <a:pPr algn="l">
              <a:spcBef>
                <a:spcPts val="0"/>
              </a:spcBef>
              <a:spcAft>
                <a:spcPts val="800"/>
              </a:spcAft>
            </a:pPr>
            <a:r>
              <a:rPr sz="850" b="0">
                <a:solidFill>
                  <a:srgbClr val="ECECEE"/>
                </a:solidFill>
                <a:latin typeface="Helvetica Neue"/>
              </a:rPr>
              <a:t>Photo: Kidfly182 / Wikimedia Commons, CC BY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