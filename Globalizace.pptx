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Úvod: Přivítejte třídu jednou silnou větou — 'Svět, ve kterém žijeme, je propojenější než kdykoli v historii.' Telefon v mé kapse, oblečení, jídlo i informace pocházejí z desítek zemí. Dnes si ukážeme, co tento jev znamená, proč vznikl a jaké má světlé i stinné stránky. Cíl: po prezentaci byste měli umět globalizaci vysvětlit kamarádovi jednou větou.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Definice: Globalizace je proces, při kterém se státy, ekonomiky a kultury stále silněji propojují a stávají vzájemně závislými. Jednoduše: svět se 'zmenšuje' — to, co se stane na jednom konci planety, dnes okamžitě ovlivní druhý. Proč to dnes řešíme? Protože tempo propojení je bezprecedentní: přes 5 miliard lidí je online a každý den se obchoduje napříč kontinenty. Příklad pro studenty: trend z TikToku se za den rozšíří do celého světa.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Mechanismy globalizace — čtyři pilíře. 1) Mezinárodní obchod: kolem 80 % objemu světového zboží se přepraví po moři v kontejnerech. 2) Internet: umožňuje firmě v Praze spolupracovat s týmem v Indii během vteřin. 3) Doprava: kontejnerová přeprava a letecká logistika radikálně zlevnily pohyb zboží. 4) Komunikace: videohovory a cloud propojují lidi napříč časovými pásmy. Tyto čtyři síly se navzájem posilují.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Příčiny: Proč se svět propojil právě teď? Klíčem je technologie. Vynález internetu (90. léta) a později chytrých telefonů (po roce 2007) umožnil okamžitou komunikaci pro miliardy lidí. Kontejnerová doprava zlevnila přepravu zboží na zlomek původní ceny. A firmy přirozeně hledají levnější výrobu a nové zákazníky za hranicemi. Souhra těchto faktorů globalizaci v posledních desetiletích extrémně urychlila.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Konkrétní příklad, který studenti znají — iPhone. Je navržen v Kalifornii, ale jeho součástky pocházejí od dodavatelů z více než 40 zemí: displeje a paměti z Jižní Koreje a Japonska, čipy z Tchaj-wanu, finální montáž v Číně. Žádná jediná země by ho sama nevyrobila tak levně a kvalitně. Stejně fungují globální značky (McDonald's, Nike, Zara) a celé dodavatelské řetězce. Otázka do třídy: Kolik zemí asi 'leží' ve vašem tričku?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Výhody — pozitivní strana. 1) Výběr: v běžném obchodě najdeme ovoce z Jižní Ameriky i elektroniku z Asie. 2) Informace: díky internetu má student v Česku přístup ke stejným kurzům jako student v New Yorku. 3) Růst: mezinárodní obchod (přes 24 bilionů dolarů ročně) pomohl vytáhnout stovky milionů lidí z chudoby. 4) Spolupráce: globální výzvy — pandemie, klima — lze řešit jen společně. Zdůrazněte: globalizace není jen ekonomika, je to i sdílení hodnot.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Další výhody — dlouhodobý dopad. Inovace: globální konkurence nutí firmy neustále vylepšovat produkty (srovnejte telefon dnes a před 15 lety). Vědecký pokrok: vývoj vakcín proti covidu byl dílem mezinárodních týmů a trval měsíce místo let — protože vědci sdíleli data online. Vzdělání: platformy jako Khan Academy nebo Wikipedie zpřístupnily znalosti zdarma komukoli s internetem. Globalizace tak zrychluje lidské poznání jako celek.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Nevýhody — stinná strana. 1) Místní firmy: malé rodinné obchody často nemohou cenově konkurovat nadnárodním řetězcům a e-shopům, a zanikají. 2) Závislost: když se zasekne jediný dodavatelský řetězec (např. nedostatek čipů v roce 2021), pocítí to celý svět. 3) Práce: továrny se přesouvají do zemí s nižšími mzdami — to znamená ztrátu pracovních míst v původní zemi. Vyvažte: nejde o to globalizaci odsoudit, ale vidět její náklady.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Další nevýhody — méně viditelné, zato zásadní. 1) Životní prostředí: převoz zboží přes celou planetu znamená obrovskou spotřebu paliv; námořní doprava sama stojí za významnou částí globálních emisí CO₂. 2) Kultura: stejné značky, filmy a móda všude vedou ke 'kulturní uniformitě' — mizí místní svébytnost. 3) Nerovnost: z globalizace netěží všichni stejně — rozdíly mezi bohatými a chudými mohou růst. Pointa: propojení má cenu, kterou není vždy vidět na cenovce.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Závěr — vyvážené shrnutí. Globalizace není ani jednoznačně dobrá, ani špatná — je to mocný nástroj se dvěma tvářemi. Spojuje nás, dává nám výběr a žene pokrok; zároveň vytváří závislosti, prohlubuje nerovnost a zatěžuje planetu. Klíčové poselství: globalizaci nelze zastavit, ale můžeme ji směrovat zodpovědně (férový obchod, udržitelná doprava, ochrana kultur). Zakončete otevřenou otázkou a vyzvěte spolužáky k diskusi — nechte je hlasovat: příležitost, nebo hrozba? Děkuji za pozornost.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_ea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 spc="420">
                <a:solidFill>
                  <a:srgbClr val="CFE6FF"/>
                </a:solidFill>
                <a:latin typeface="Helvetica Neue"/>
              </a:rPr>
              <a:t>PREZENTACE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1127455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0" b="1" i="0" spc="-60">
                <a:solidFill>
                  <a:srgbClr val="FFFFFF"/>
                </a:solidFill>
                <a:latin typeface="Helvetica Neue"/>
              </a:rPr>
              <a:t>Globalizace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33288" y="4370832"/>
            <a:ext cx="731520" cy="38100"/>
          </a:xfrm>
          <a:prstGeom prst="rect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 spc="60">
                <a:solidFill>
                  <a:srgbClr val="D6DAE0"/>
                </a:solidFill>
                <a:latin typeface="Helvetica Neue"/>
              </a:rPr>
              <a:t>Tom Častvaj  ·  3.B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38928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0" i="1" spc="20">
                <a:solidFill>
                  <a:srgbClr val="A1A8B3"/>
                </a:solidFill>
                <a:latin typeface="Helvetica Neue"/>
              </a:rPr>
              <a:t>Jak se svět propojil v jednu síť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2E9BFF"/>
                </a:solidFill>
                <a:latin typeface="Helvetica Neue"/>
              </a:rPr>
              <a:t>01 — DEFINICE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Co je globalizace?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566928" cy="40640"/>
          </a:xfrm>
          <a:prstGeom prst="rect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97180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80360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Propojování světa v jeden celek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Ekonomiky, kultury a lidé se stále těsněji prolínají.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995928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904488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Vzdálenosti přestaly platit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Zboží i informace obletí planetu za hodiny, ne za měsíce.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020056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928616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Týká se úplně každého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Od telefonu v kapse až po jídlo na talíři.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_po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2E9BFF"/>
                </a:solidFill>
                <a:latin typeface="Helvetica Neue"/>
              </a:rPr>
              <a:t>02 — MECHANISMY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Jak to celé funguje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566928" cy="40640"/>
          </a:xfrm>
          <a:prstGeom prst="rect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88036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Mezinárodní obchod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Lodě a kontejnery propojují trhy všech kontinentů.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4904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Internet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Data a služby putují mezi zeměmi okamžitě.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61772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52628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Doprava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Letecká i námořní logistika zkrátila vzdálenosti.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8640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Globální komunikace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Spolupracujeme v reálném čase přes časová pásma.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_te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2E9BFF"/>
                </a:solidFill>
                <a:latin typeface="Helvetica Neue"/>
              </a:rPr>
              <a:t>03 — PŘÍČINY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Co globalizaci pohání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566928" cy="40640"/>
          </a:xfrm>
          <a:prstGeom prst="rect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88036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Technologický pokrok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Počítače a chytré telefony spojily celé generace.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4904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Rychlejší doprava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Levnější a dostupnější přesun lidí i zboží.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61772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52628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Rozmach internetu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Z lokální informace se během chvíle stane globální.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8640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Mezinárodní byznys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Firmy hledají trhy a partnery po celém světě.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_i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2E9BFF"/>
                </a:solidFill>
                <a:latin typeface="Helvetica Neue"/>
              </a:rPr>
              <a:t>04 — V PRAXI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400" b="1" i="0" spc="-30">
                <a:solidFill>
                  <a:srgbClr val="FFFFFF"/>
                </a:solidFill>
                <a:latin typeface="Helvetica Neue"/>
              </a:rPr>
              <a:t>Globalizace v jednom
telefonu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788920"/>
            <a:ext cx="566928" cy="40640"/>
          </a:xfrm>
          <a:prstGeom prst="rect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324612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15468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50" b="1" i="0" spc="-10">
                <a:solidFill>
                  <a:srgbClr val="FFFFFF"/>
                </a:solidFill>
                <a:latin typeface="Helvetica Neue"/>
              </a:rPr>
              <a:t>iPhone je dílem desítek zemí</a:t>
            </a:r>
          </a:p>
          <a:p>
            <a:pPr>
              <a:spcBef>
                <a:spcPts val="200"/>
              </a:spcBef>
            </a:pPr>
            <a:r>
              <a:rPr sz="1350" b="0" i="0" spc="10">
                <a:solidFill>
                  <a:srgbClr val="D6DAE0"/>
                </a:solidFill>
                <a:latin typeface="Helvetica Neue"/>
              </a:rPr>
              <a:t>Design v USA, čipy z Asie, montáž v Číně.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1480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02336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50" b="1" i="0" spc="-10">
                <a:solidFill>
                  <a:srgbClr val="FFFFFF"/>
                </a:solidFill>
                <a:latin typeface="Helvetica Neue"/>
              </a:rPr>
              <a:t>Globální značky všude kolem</a:t>
            </a:r>
          </a:p>
          <a:p>
            <a:pPr>
              <a:spcBef>
                <a:spcPts val="200"/>
              </a:spcBef>
            </a:pPr>
            <a:r>
              <a:rPr sz="1350" b="0" i="0" spc="10">
                <a:solidFill>
                  <a:srgbClr val="D6DAE0"/>
                </a:solidFill>
                <a:latin typeface="Helvetica Neue"/>
              </a:rPr>
              <a:t>Stejné logo potkáte v Tokiu i v Brně.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983480"/>
            <a:ext cx="118872" cy="118872"/>
          </a:xfrm>
          <a:prstGeom prst="ellipse">
            <a:avLst/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892040"/>
            <a:ext cx="6035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50" b="1" i="0" spc="-10">
                <a:solidFill>
                  <a:srgbClr val="FFFFFF"/>
                </a:solidFill>
                <a:latin typeface="Helvetica Neue"/>
              </a:rPr>
              <a:t>Mezinárodní dodavatelské řetězce</a:t>
            </a:r>
          </a:p>
          <a:p>
            <a:pPr>
              <a:spcBef>
                <a:spcPts val="200"/>
              </a:spcBef>
            </a:pPr>
            <a:r>
              <a:rPr sz="1350" b="0" i="0" spc="10">
                <a:solidFill>
                  <a:srgbClr val="D6DAE0"/>
                </a:solidFill>
                <a:latin typeface="Helvetica Neue"/>
              </a:rPr>
              <a:t>Jeden výrobek, stovky propojených dodavatelů.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468880"/>
            <a:ext cx="3657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 spc="-40">
                <a:solidFill>
                  <a:srgbClr val="FFFFFF"/>
                </a:solidFill>
                <a:latin typeface="Helvetica Neue"/>
              </a:rPr>
              <a:t>40+</a:t>
            </a:r>
          </a:p>
          <a:p>
            <a:pPr>
              <a:spcBef>
                <a:spcPts val="200"/>
              </a:spcBef>
            </a:pPr>
            <a:r>
              <a:rPr sz="1400" b="1" i="0" spc="260">
                <a:solidFill>
                  <a:srgbClr val="A1A8B3"/>
                </a:solidFill>
                <a:latin typeface="Helvetica Neue"/>
              </a:rPr>
              <a:t>ZEMÍ V JEDNOM IPHONU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_mark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32D74B"/>
                </a:solidFill>
                <a:latin typeface="Helvetica Neue"/>
              </a:rPr>
              <a:t>05 — VÝHODY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Co nám přináší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566928" cy="40640"/>
          </a:xfrm>
          <a:prstGeom prst="rect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88036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78892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Větší výběr zboží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Produkty z celého světa na dosah ruky.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74904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65760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Přístup k informacím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Vědění planety dostupné komukoli online.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61772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52628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Ekonomický růst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Obchod vytváří pracovní místa a bohatství.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548640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394960"/>
            <a:ext cx="6766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950" b="1" i="0" spc="-10">
                <a:solidFill>
                  <a:srgbClr val="FFFFFF"/>
                </a:solidFill>
                <a:latin typeface="Helvetica Neue"/>
              </a:rPr>
              <a:t>Mezinárodní spolupráce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Společné řešení problémů přesahujících hranice.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_sc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0" y="7772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32D74B"/>
                </a:solidFill>
                <a:latin typeface="Helvetica Neue"/>
              </a:rPr>
              <a:t>06 — VÝHODY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9320" y="128016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Motor pokroku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2395728"/>
            <a:ext cx="566928" cy="40640"/>
          </a:xfrm>
          <a:prstGeom prst="rect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0" y="301752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 spc="-10">
                <a:solidFill>
                  <a:srgbClr val="FFFFFF"/>
                </a:solidFill>
                <a:latin typeface="Helvetica Neue"/>
              </a:rPr>
              <a:t>Inovace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Konkurence i spolupráce ženou nové nápady vpřed.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397764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886200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 spc="-10">
                <a:solidFill>
                  <a:srgbClr val="FFFFFF"/>
                </a:solidFill>
                <a:latin typeface="Helvetica Neue"/>
              </a:rPr>
              <a:t>Vědecký pokrok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Objevy se okamžitě sdílejí napříč kontinenty.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4937760"/>
            <a:ext cx="118872" cy="118872"/>
          </a:xfrm>
          <a:prstGeom prst="ellipse">
            <a:avLst/>
          </a:prstGeom>
          <a:solidFill>
            <a:srgbClr val="32D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846320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 spc="-10">
                <a:solidFill>
                  <a:srgbClr val="FFFFFF"/>
                </a:solidFill>
                <a:latin typeface="Helvetica Neue"/>
              </a:rPr>
              <a:t>Vzdělání a znalosti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Kurzy a data otevřené komukoli, kdekoli.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_lo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FF9F0A"/>
                </a:solidFill>
                <a:latin typeface="Helvetica Neue"/>
              </a:rPr>
              <a:t>07 — NEVÝHODY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Druhá strana mince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566928" cy="40640"/>
          </a:xfrm>
          <a:prstGeom prst="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971800"/>
            <a:ext cx="118872" cy="118872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80360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Tlak na místní firmy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Malé obchody těžko soupeří s globálními giganty.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995928"/>
            <a:ext cx="118872" cy="118872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904488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Závislost na trzích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Krize v cizině zasáhne ekonomiku i u nás doma.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020056"/>
            <a:ext cx="118872" cy="118872"/>
          </a:xfrm>
          <a:prstGeom prst="ellipse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928616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Přesun pracovních míst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Výroba se stěhuje tam, kde je levnější.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_poll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7772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 b="1" i="0" spc="340">
                <a:solidFill>
                  <a:srgbClr val="FF453A"/>
                </a:solidFill>
                <a:latin typeface="Helvetica Neue"/>
              </a:rPr>
              <a:t>08 — NEVÝHODY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80160"/>
            <a:ext cx="7863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000" b="1" i="0" spc="-30">
                <a:solidFill>
                  <a:srgbClr val="FFFFFF"/>
                </a:solidFill>
                <a:latin typeface="Helvetica Neue"/>
              </a:rPr>
              <a:t>Skrytá cena propojení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395728"/>
            <a:ext cx="566928" cy="40640"/>
          </a:xfrm>
          <a:prstGeom prst="rect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971800"/>
            <a:ext cx="118872" cy="118872"/>
          </a:xfrm>
          <a:prstGeom prst="ellipse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880360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Dopady na životní prostředí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Doprava zboží přes půl světa zvyšuje emise.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995928"/>
            <a:ext cx="118872" cy="118872"/>
          </a:xfrm>
          <a:prstGeom prst="ellipse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904488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Stírání kulturních rozdílů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Lokální tradice ustupují globálnímu mainstreamu.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5020056"/>
            <a:ext cx="118872" cy="118872"/>
          </a:xfrm>
          <a:prstGeom prst="ellipse">
            <a:avLst/>
          </a:prstGeom>
          <a:solidFill>
            <a:srgbClr val="FF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4928616"/>
            <a:ext cx="676656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100" b="1" i="0" spc="-10">
                <a:solidFill>
                  <a:srgbClr val="FFFFFF"/>
                </a:solidFill>
                <a:latin typeface="Helvetica Neue"/>
              </a:rPr>
              <a:t>Ekonomická nerovnost</a:t>
            </a:r>
          </a:p>
          <a:p>
            <a:pPr>
              <a:spcBef>
                <a:spcPts val="200"/>
              </a:spcBef>
            </a:pPr>
            <a:r>
              <a:rPr sz="1450" b="0" i="0" spc="10">
                <a:solidFill>
                  <a:srgbClr val="D6DAE0"/>
                </a:solidFill>
                <a:latin typeface="Helvetica Neue"/>
              </a:rPr>
              <a:t>Zisky se nerozdělují mezi všechny rovnoměrně.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1" i="0" spc="300">
                <a:solidFill>
                  <a:srgbClr val="A1A8B3"/>
                </a:solidFill>
                <a:latin typeface="Helvetica Neue"/>
              </a:rPr>
              <a:t>GLOBALIZACE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 spc="120">
                <a:solidFill>
                  <a:srgbClr val="A1A8B3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_sunr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 spc="360">
                <a:solidFill>
                  <a:srgbClr val="FFE0C0"/>
                </a:solidFill>
                <a:latin typeface="Helvetica Neue"/>
              </a:rPr>
              <a:t>09 — ZÁVĚR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19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 i="0" spc="-40">
                <a:solidFill>
                  <a:srgbClr val="FFFFFF"/>
                </a:solidFill>
                <a:latin typeface="Helvetica Neue"/>
              </a:rPr>
              <a:t>Svět bez hranic?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54680"/>
            <a:ext cx="85313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50" b="0" i="0" spc="10">
                <a:solidFill>
                  <a:srgbClr val="D6DAE0"/>
                </a:solidFill>
                <a:latin typeface="Helvetica Neue"/>
              </a:rPr>
              <a:t>Globalizace nás spojuje, obohacuje a zrychluje pokrok — zároveň přináší závislost, nerovnost a tlak na přírodu.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4370832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2E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 spc="20">
                <a:solidFill>
                  <a:srgbClr val="FFFFFF"/>
                </a:solidFill>
                <a:latin typeface="Helvetica Neue"/>
              </a:rPr>
              <a:t>Nejde ji zastavit — jde ji dělat chytře.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57800"/>
            <a:ext cx="9445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1" i="0" spc="40">
                <a:solidFill>
                  <a:srgbClr val="A1A8B3"/>
                </a:solidFill>
                <a:latin typeface="Helvetica Neue"/>
              </a:rPr>
              <a:t>Otázka pro vás:  </a:t>
            </a:r>
            <a:r>
              <a:rPr sz="1650" b="0" i="1" spc="10">
                <a:solidFill>
                  <a:srgbClr val="FFFFFF"/>
                </a:solidFill>
                <a:latin typeface="Helvetica Neue"/>
              </a:rPr>
              <a:t>Je globalizace spíš příležitost, nebo hrozba — a pro koho?</a:t>
            </a:r>
          </a:p>
        </p:txBody>
      </p:sp>
    </p:spTree>
  </p:cSld>
  <p:clrMapOvr>
    <a:masterClrMapping/>
  </p:clrMapOvr>
  <p:transition spd="slow" advClick="1">
    <p:fade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